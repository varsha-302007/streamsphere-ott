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professors, and faculty members. Today we present our DBMS Laboratory mini-project titled 'StreamSphere: OTT Platform Management System'. Our system is designed and implemented as a complete, working relational database solution using MySQL 8.0, Express REST APIs, and a modern React dashboard. We will demonstrate how real-world OTT streaming operations are mapped into normalized relational tables, constrained by database business rules, and analyzed using advanced SQL objects including stored procedures, views, and triggers.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introduce the domain context. Over-The-Top or OTT platforms like Netflix and Prime Video have revolutionized media distribution. However, behind the simple user interface lies a massive data challenge: managing dynamic catalogs, subscription periods, watch telemetry, and ratings. A database-first approach is essential because subscriptions represent monetary contracts that require strict ACID compliance. StreamSphere was engineered to tackle these real-world challenges through a solid MySQL 8.0 relational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outline the exact problems our project solves. In standard unnormalized databases, redundant genre descriptions and plan prices cause update anomalies. Furthermore, without database triggers and procedures, invalid subscription dates or orphaned watch logs can easily corrupt data. Our primary objective was to build a rigorous 7-table schema normalized to 3NF/BCNF, backed by transactional stored procedures, integrity triggers, and multi-table analytical views, while scoping out copyrighted video delivery to concentrate strictly on DBMS excellence.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classical 3-tier architecture of StreamSphere. The presentation layer is built with React 18 and Vite for a reactive single-page experience. The middle tier uses Node.js and Express 5, implementing bcrypt hashing and JWT role guards. Crucially, the backend executes parameterized SQL statements through mysql2, which guarantees immunity against SQL injection. The data tier is powered by MySQL 8.0 with the InnoDB engine, providing native foreign keys, check constraints, and transactional procedures.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conceptual Entity-Relationship diagram and cardinality analysis. Our schema features 7 distinct entities. Notice that many-to-many relationships are properly decomposed: Users and Content have two distinct M:N relationships. One is playback telemetry through WatchHistory, and the other is feedback through the Ratings table. In the Ratings table, a composite unique key ensures that one user can only review a specific title once, preventing duplicate vote rigging.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question asked by DBMS examiners is how deletion rules were chosen. In StreamSphere, we deliberately avoided blindly cascading all deletions. We used ON DELETE RESTRICT on Genres and SubscriptionPlans. If an administrator attempts to delete a genre that still has movies assigned to it, MySQL strictly blocks the deletion. Conversely, ON DELETE CASCADE is applied to personal user data under Users and Content, ensuring that when an account is closed, all personal watch history and ratings are cleanly erased without leaving orphan records.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demonstrate normalization up to Boyce-Codd Normal Form. We started with an unnormalized flat relation where a user's row duplicated movies watched and plans purchased. In 1NF, we eliminated repeating groups and established atomic scalar domains. In 2NF, because our tables utilize single-column surrogate keys, partial functional dependencies cannot exist. In 3NF, we removed transitive dependencies by separating Genres and SubscriptionPlans. Finally, because every determinant across all functional dependencies is a candidate key, our database satisfies BCNF.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examine the actual SQL queries running in our backend. The first query uses a LEFT JOIN from Genres to Content with conditional SUM(CASE) to count movies and series in one consolidated group. The second query joins Content, Genres, and Ratings. It computes the average, minimum, and maximum scores, and demonstrates the HAVING clause to filter out unreviewed content from the top-rated leaderboard.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crucial slide for your viva. We implemented all four major advanced database objects. First, stored procedure sp_register_subscription wraps subscription purchase in a database transaction with ROLLBACK. Second, trigger trg_validate_subscription_insert fires BEFORE INSERT to reject invalid dates with SQLSTATE 45000. Third, view vw_content_performance joins four tables to provide pre-aggregated catalog stats. Fourth, stored function fn_calculate_user_watch_hours converts streaming minutes into rounded hours.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user interface architecture. The application features six dedicated management screens. The Dashboard displays live aggregate metrics directly computed by MySQL. The Content screen supports full search and multi-filtering. The Subscription screen invokes our stored procedure directly from the UI. And the DBMS Lab Showcase screen allows professors and examiners to inspect the exact SQL queries running behind each report and trigger exceptions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documents our rigorous quality assurance. We wrote an automated end-to-end verification script that executes all 15 core test cases against the live MySQL database. Every single test passed with a 100% success rate. Specifically, we verified that login authentication rejects bad passwords, stored procedures execute atomically, and our trigger successfully catches and blocks invalid subscription dates with SQLSTATE 45000.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StreamSphere demonstrates how relational database principles translate directly into real-world applications. We successfully normalized our schema to 3NF/BCNF, proved transactional safety with stored procedures, and enforced business constraints via triggers. In the future, the platform can be expanded with CDN streaming, ML recommendation algorithms, and payment webhooks. Thank you for your time. We are now ready to demonstrate the live application and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822960"/>
            <a:ext cx="4389120" cy="365760"/>
          </a:xfrm>
          <a:prstGeom prst="roundRect">
            <a:avLst/>
          </a:prstGeom>
          <a:solidFill>
            <a:srgbClr val="1920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6366F1"/>
                </a:solidFill>
                <a:latin typeface="Segoe UI"/>
              </a:defRPr>
            </a:pPr>
            <a:r>
              <a:t>DBMS LABORATORY MINI-PROJECT  |  ACADEMIC YEAR 2025–2026</a:t>
            </a:r>
          </a:p>
        </p:txBody>
      </p:sp>
      <p:sp>
        <p:nvSpPr>
          <p:cNvPr id="5" name="TextBox 4"/>
          <p:cNvSpPr txBox="1"/>
          <p:nvPr/>
        </p:nvSpPr>
        <p:spPr>
          <a:xfrm>
            <a:off x="914400" y="1280160"/>
            <a:ext cx="10332720" cy="1280160"/>
          </a:xfrm>
          <a:prstGeom prst="rect">
            <a:avLst/>
          </a:prstGeom>
          <a:noFill/>
        </p:spPr>
        <p:txBody>
          <a:bodyPr wrap="square">
            <a:spAutoFit/>
          </a:bodyPr>
          <a:lstStyle/>
          <a:p>
            <a:pPr>
              <a:defRPr sz="4400" b="1">
                <a:solidFill>
                  <a:srgbClr val="F8FAFC"/>
                </a:solidFill>
                <a:latin typeface="Segoe UI"/>
              </a:defRPr>
            </a:pPr>
            <a:r>
              <a:t>StreamSphere</a:t>
            </a:r>
          </a:p>
          <a:p>
            <a:pPr>
              <a:defRPr sz="2200" b="1">
                <a:solidFill>
                  <a:srgbClr val="8B5CF6"/>
                </a:solidFill>
                <a:latin typeface="Segoe UI"/>
              </a:defRPr>
            </a:pPr>
            <a:r>
              <a:t>OTT Platform Management System</a:t>
            </a:r>
          </a:p>
          <a:p>
            <a:pPr>
              <a:defRPr sz="1200" i="1">
                <a:solidFill>
                  <a:srgbClr val="94A3B8"/>
                </a:solidFill>
                <a:latin typeface="Segoe UI"/>
              </a:defRPr>
            </a:pPr>
            <a:r>
              <a:t>A Full-Stack Relational Database System with MySQL 8.0, Node.js REST API, and Modern React Dashboard</a:t>
            </a:r>
          </a:p>
        </p:txBody>
      </p:sp>
      <p:sp>
        <p:nvSpPr>
          <p:cNvPr id="6" name="Rounded Rectangle 5"/>
          <p:cNvSpPr/>
          <p:nvPr/>
        </p:nvSpPr>
        <p:spPr>
          <a:xfrm>
            <a:off x="914400" y="3291840"/>
            <a:ext cx="3200400" cy="256032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3401568"/>
            <a:ext cx="2926080" cy="365760"/>
          </a:xfrm>
          <a:prstGeom prst="rect">
            <a:avLst/>
          </a:prstGeom>
          <a:noFill/>
        </p:spPr>
        <p:txBody>
          <a:bodyPr wrap="square">
            <a:spAutoFit/>
          </a:bodyPr>
          <a:lstStyle/>
          <a:p>
            <a:pPr>
              <a:defRPr sz="1200" b="1">
                <a:solidFill>
                  <a:srgbClr val="F8FAFC"/>
                </a:solidFill>
                <a:latin typeface="Segoe UI"/>
              </a:defRPr>
            </a:pPr>
            <a:r>
              <a:t>Institution &amp; Department</a:t>
            </a:r>
          </a:p>
        </p:txBody>
      </p:sp>
      <p:sp>
        <p:nvSpPr>
          <p:cNvPr id="8" name="TextBox 7"/>
          <p:cNvSpPr txBox="1"/>
          <p:nvPr/>
        </p:nvSpPr>
        <p:spPr>
          <a:xfrm>
            <a:off x="1051560" y="3840480"/>
            <a:ext cx="2926080" cy="1828800"/>
          </a:xfrm>
          <a:prstGeom prst="rect">
            <a:avLst/>
          </a:prstGeom>
          <a:noFill/>
        </p:spPr>
        <p:txBody>
          <a:bodyPr wrap="square">
            <a:spAutoFit/>
          </a:bodyPr>
          <a:lstStyle/>
          <a:p>
            <a:pPr>
              <a:defRPr sz="950" b="1">
                <a:solidFill>
                  <a:srgbClr val="6366F1"/>
                </a:solidFill>
              </a:defRPr>
            </a:pPr>
            <a:r>
              <a:t>DEPARTMENT:</a:t>
            </a:r>
          </a:p>
          <a:p>
            <a:pPr>
              <a:defRPr sz="1050">
                <a:solidFill>
                  <a:srgbClr val="F8FAFC"/>
                </a:solidFill>
              </a:defRPr>
            </a:pPr>
            <a:r>
              <a:t>[Department of Computer Science &amp; Engineering]</a:t>
            </a:r>
          </a:p>
          <a:p>
            <a:br/>
            <a:pPr>
              <a:defRPr sz="950" b="1">
                <a:solidFill>
                  <a:srgbClr val="6366F1"/>
                </a:solidFill>
              </a:defRPr>
            </a:pPr>
            <a:r>
              <a:t>COLLEGE / INSTITUTION:</a:t>
            </a:r>
          </a:p>
          <a:p>
            <a:pPr>
              <a:defRPr sz="1050">
                <a:solidFill>
                  <a:srgbClr val="F8FAFC"/>
                </a:solidFill>
              </a:defRPr>
            </a:pPr>
            <a:r>
              <a:t>[Your College / Institute Name Here]</a:t>
            </a:r>
          </a:p>
        </p:txBody>
      </p:sp>
      <p:sp>
        <p:nvSpPr>
          <p:cNvPr id="9" name="Rounded Rectangle 8"/>
          <p:cNvSpPr/>
          <p:nvPr/>
        </p:nvSpPr>
        <p:spPr>
          <a:xfrm>
            <a:off x="4480560" y="3291840"/>
            <a:ext cx="3383280" cy="256032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3401568"/>
            <a:ext cx="3108960" cy="365760"/>
          </a:xfrm>
          <a:prstGeom prst="rect">
            <a:avLst/>
          </a:prstGeom>
          <a:noFill/>
        </p:spPr>
        <p:txBody>
          <a:bodyPr wrap="square">
            <a:spAutoFit/>
          </a:bodyPr>
          <a:lstStyle/>
          <a:p>
            <a:pPr>
              <a:defRPr sz="1200" b="1">
                <a:solidFill>
                  <a:srgbClr val="F8FAFC"/>
                </a:solidFill>
                <a:latin typeface="Segoe UI"/>
              </a:defRPr>
            </a:pPr>
            <a:r>
              <a:t>Project Team Members</a:t>
            </a:r>
          </a:p>
        </p:txBody>
      </p:sp>
      <p:sp>
        <p:nvSpPr>
          <p:cNvPr id="11" name="TextBox 10"/>
          <p:cNvSpPr txBox="1"/>
          <p:nvPr/>
        </p:nvSpPr>
        <p:spPr>
          <a:xfrm>
            <a:off x="4617720" y="3840480"/>
            <a:ext cx="3108960" cy="1828800"/>
          </a:xfrm>
          <a:prstGeom prst="rect">
            <a:avLst/>
          </a:prstGeom>
          <a:noFill/>
        </p:spPr>
        <p:txBody>
          <a:bodyPr wrap="square">
            <a:spAutoFit/>
          </a:bodyPr>
          <a:lstStyle/>
          <a:p>
            <a:pPr>
              <a:defRPr sz="950" b="1">
                <a:solidFill>
                  <a:srgbClr val="8B5CF6"/>
                </a:solidFill>
              </a:defRPr>
            </a:pPr>
            <a:r>
              <a:t>TEAM MEMBERS &amp; ROLL NUMBERS:</a:t>
            </a:r>
          </a:p>
          <a:p>
            <a:pPr>
              <a:defRPr sz="1050">
                <a:solidFill>
                  <a:srgbClr val="F8FAFC"/>
                </a:solidFill>
              </a:defRPr>
            </a:pPr>
            <a:r>
              <a:t>1. [Student Name 1 — Roll No / Reg No]</a:t>
            </a:r>
          </a:p>
          <a:p>
            <a:pPr>
              <a:defRPr sz="1050">
                <a:solidFill>
                  <a:srgbClr val="F8FAFC"/>
                </a:solidFill>
              </a:defRPr>
            </a:pPr>
            <a:r>
              <a:t>2. [Student Name 2 — Roll No / Reg No]</a:t>
            </a:r>
          </a:p>
          <a:p>
            <a:pPr>
              <a:defRPr sz="1050">
                <a:solidFill>
                  <a:srgbClr val="F8FAFC"/>
                </a:solidFill>
              </a:defRPr>
            </a:pPr>
            <a:r>
              <a:t>3. [Student Name 3 — Roll No / Reg No]</a:t>
            </a:r>
          </a:p>
          <a:p>
            <a:br/>
            <a:pPr>
              <a:defRPr sz="950">
                <a:solidFill>
                  <a:srgbClr val="94A3B8"/>
                </a:solidFill>
              </a:defRPr>
            </a:pPr>
            <a:r>
              <a:t>Degree: B.Tech Computer Science &amp; Engineering (Year II)</a:t>
            </a:r>
          </a:p>
        </p:txBody>
      </p:sp>
      <p:sp>
        <p:nvSpPr>
          <p:cNvPr id="12" name="Rounded Rectangle 11"/>
          <p:cNvSpPr/>
          <p:nvPr/>
        </p:nvSpPr>
        <p:spPr>
          <a:xfrm>
            <a:off x="8138160" y="3291840"/>
            <a:ext cx="3108960" cy="256032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3401568"/>
            <a:ext cx="2834640" cy="365760"/>
          </a:xfrm>
          <a:prstGeom prst="rect">
            <a:avLst/>
          </a:prstGeom>
          <a:noFill/>
        </p:spPr>
        <p:txBody>
          <a:bodyPr wrap="square">
            <a:spAutoFit/>
          </a:bodyPr>
          <a:lstStyle/>
          <a:p>
            <a:pPr>
              <a:defRPr sz="1200" b="1">
                <a:solidFill>
                  <a:srgbClr val="F8FAFC"/>
                </a:solidFill>
                <a:latin typeface="Segoe UI"/>
              </a:defRPr>
            </a:pPr>
            <a:r>
              <a:t>Faculty &amp; Evaluation</a:t>
            </a:r>
          </a:p>
        </p:txBody>
      </p:sp>
      <p:sp>
        <p:nvSpPr>
          <p:cNvPr id="14" name="TextBox 13"/>
          <p:cNvSpPr txBox="1"/>
          <p:nvPr/>
        </p:nvSpPr>
        <p:spPr>
          <a:xfrm>
            <a:off x="8275320" y="3840480"/>
            <a:ext cx="2834640" cy="1828800"/>
          </a:xfrm>
          <a:prstGeom prst="rect">
            <a:avLst/>
          </a:prstGeom>
          <a:noFill/>
        </p:spPr>
        <p:txBody>
          <a:bodyPr wrap="square">
            <a:spAutoFit/>
          </a:bodyPr>
          <a:lstStyle/>
          <a:p>
            <a:pPr>
              <a:defRPr sz="950" b="1">
                <a:solidFill>
                  <a:srgbClr val="06B6D4"/>
                </a:solidFill>
              </a:defRPr>
            </a:pPr>
            <a:r>
              <a:t>COURSE INSTRUCTOR / GUIDE:</a:t>
            </a:r>
          </a:p>
          <a:p>
            <a:pPr>
              <a:defRPr sz="1050">
                <a:solidFill>
                  <a:srgbClr val="F8FAFC"/>
                </a:solidFill>
              </a:defRPr>
            </a:pPr>
            <a:r>
              <a:t>[Prof. / Dr. Faculty Name Here]</a:t>
            </a:r>
          </a:p>
          <a:p>
            <a:br/>
            <a:pPr>
              <a:defRPr sz="950" b="1">
                <a:solidFill>
                  <a:srgbClr val="06B6D4"/>
                </a:solidFill>
              </a:defRPr>
            </a:pPr>
            <a:r>
              <a:t>LABORATORY COURSE:</a:t>
            </a:r>
          </a:p>
          <a:p>
            <a:pPr>
              <a:defRPr sz="1050">
                <a:solidFill>
                  <a:srgbClr val="F8FAFC"/>
                </a:solidFill>
              </a:defRPr>
            </a:pPr>
            <a:r>
              <a:t>Database Management Systems Lab</a:t>
            </a:r>
            <a:br/>
            <a:r>
              <a:t>Course Code: [CS-302P / CS-XXXX]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840480" cy="320040"/>
          </a:xfrm>
          <a:prstGeom prst="roundRect">
            <a:avLst/>
          </a:prstGeom>
          <a:solidFill>
            <a:srgbClr val="1920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950" b="1">
                <a:solidFill>
                  <a:srgbClr val="6366F1"/>
                </a:solidFill>
                <a:latin typeface="Segoe UI"/>
              </a:defRPr>
            </a:pPr>
            <a:r>
              <a:t>1. INTRODUCTION &amp; DOMAIN BACKGROUND</a:t>
            </a:r>
          </a:p>
        </p:txBody>
      </p:sp>
      <p:sp>
        <p:nvSpPr>
          <p:cNvPr id="4" name="TextBox 3"/>
          <p:cNvSpPr txBox="1"/>
          <p:nvPr/>
        </p:nvSpPr>
        <p:spPr>
          <a:xfrm>
            <a:off x="731520" y="777240"/>
            <a:ext cx="10698480" cy="640080"/>
          </a:xfrm>
          <a:prstGeom prst="rect">
            <a:avLst/>
          </a:prstGeom>
          <a:noFill/>
        </p:spPr>
        <p:txBody>
          <a:bodyPr wrap="square">
            <a:spAutoFit/>
          </a:bodyPr>
          <a:lstStyle/>
          <a:p>
            <a:pPr>
              <a:defRPr sz="2200" b="1">
                <a:solidFill>
                  <a:srgbClr val="F8FAFC"/>
                </a:solidFill>
                <a:latin typeface="Segoe UI"/>
              </a:defRPr>
            </a:pPr>
            <a:r>
              <a:t>Understanding OTT Operations &amp; Database Imperatives</a:t>
            </a:r>
          </a:p>
          <a:p>
            <a:pPr>
              <a:defRPr sz="1100" i="1">
                <a:solidFill>
                  <a:srgbClr val="94A3B8"/>
                </a:solidFill>
                <a:latin typeface="Segoe UI"/>
              </a:defRPr>
            </a:pPr>
            <a:r>
              <a:t>Why media streaming platforms require strict relational consistency over simple flat stores</a:t>
            </a:r>
          </a:p>
        </p:txBody>
      </p:sp>
      <p:sp>
        <p:nvSpPr>
          <p:cNvPr id="5" name="TextBox 4"/>
          <p:cNvSpPr txBox="1"/>
          <p:nvPr/>
        </p:nvSpPr>
        <p:spPr>
          <a:xfrm>
            <a:off x="731520" y="6400800"/>
            <a:ext cx="10698480" cy="365760"/>
          </a:xfrm>
          <a:prstGeom prst="rect">
            <a:avLst/>
          </a:prstGeom>
          <a:noFill/>
        </p:spPr>
        <p:txBody>
          <a:bodyPr wrap="none">
            <a:spAutoFit/>
          </a:bodyPr>
          <a:lstStyle/>
          <a:p>
            <a:pPr>
              <a:defRPr sz="850">
                <a:solidFill>
                  <a:srgbClr val="64748B"/>
                </a:solidFill>
                <a:latin typeface="Segoe UI"/>
              </a:defRPr>
            </a:pPr>
            <a:r>
              <a:t>StreamSphere — OTT Platform Management System  |  DBMS Laboratory Mini-Project</a:t>
            </a:r>
          </a:p>
        </p:txBody>
      </p:sp>
      <p:sp>
        <p:nvSpPr>
          <p:cNvPr id="6" name="TextBox 5"/>
          <p:cNvSpPr txBox="1"/>
          <p:nvPr/>
        </p:nvSpPr>
        <p:spPr>
          <a:xfrm>
            <a:off x="10515600" y="6400800"/>
            <a:ext cx="914400" cy="365760"/>
          </a:xfrm>
          <a:prstGeom prst="rect">
            <a:avLst/>
          </a:prstGeom>
          <a:noFill/>
        </p:spPr>
        <p:txBody>
          <a:bodyPr wrap="none">
            <a:spAutoFit/>
          </a:bodyPr>
          <a:lstStyle/>
          <a:p>
            <a:pPr algn="r">
              <a:defRPr sz="850" b="1">
                <a:solidFill>
                  <a:srgbClr val="6366F1"/>
                </a:solidFill>
                <a:latin typeface="Segoe UI"/>
              </a:defRPr>
            </a:pPr>
            <a:r>
              <a:t>2 / 12</a:t>
            </a:r>
          </a:p>
        </p:txBody>
      </p:sp>
      <p:sp>
        <p:nvSpPr>
          <p:cNvPr id="7" name="Rounded Rectangle 6"/>
          <p:cNvSpPr/>
          <p:nvPr/>
        </p:nvSpPr>
        <p:spPr>
          <a:xfrm>
            <a:off x="731520" y="1645920"/>
            <a:ext cx="3328416" cy="438912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55648"/>
            <a:ext cx="3054096" cy="365760"/>
          </a:xfrm>
          <a:prstGeom prst="rect">
            <a:avLst/>
          </a:prstGeom>
          <a:noFill/>
        </p:spPr>
        <p:txBody>
          <a:bodyPr wrap="square">
            <a:spAutoFit/>
          </a:bodyPr>
          <a:lstStyle/>
          <a:p>
            <a:pPr>
              <a:defRPr sz="1200" b="1">
                <a:solidFill>
                  <a:srgbClr val="F8FAFC"/>
                </a:solidFill>
                <a:latin typeface="Segoe UI"/>
              </a:defRPr>
            </a:pPr>
            <a:r>
              <a:t>The OTT Streaming Paradigm</a:t>
            </a:r>
          </a:p>
        </p:txBody>
      </p:sp>
      <p:sp>
        <p:nvSpPr>
          <p:cNvPr id="9" name="TextBox 8"/>
          <p:cNvSpPr txBox="1"/>
          <p:nvPr/>
        </p:nvSpPr>
        <p:spPr>
          <a:xfrm>
            <a:off x="868680" y="2194560"/>
            <a:ext cx="3054096" cy="3657600"/>
          </a:xfrm>
          <a:prstGeom prst="rect">
            <a:avLst/>
          </a:prstGeom>
          <a:noFill/>
        </p:spPr>
        <p:txBody>
          <a:bodyPr wrap="square">
            <a:spAutoFit/>
          </a:bodyPr>
          <a:lstStyle/>
          <a:p>
            <a:pPr>
              <a:spcAft>
                <a:spcPts val="1000"/>
              </a:spcAft>
              <a:defRPr sz="1100">
                <a:solidFill>
                  <a:srgbClr val="94A3B8"/>
                </a:solidFill>
              </a:defRPr>
            </a:pPr>
            <a:r>
              <a:t>•  Over-The-Top (OTT) media services stream films, episodic web series, and live television directly to consumers over the public Internet.</a:t>
            </a:r>
          </a:p>
          <a:p>
            <a:pPr>
              <a:spcAft>
                <a:spcPts val="1000"/>
              </a:spcAft>
              <a:defRPr sz="1100">
                <a:solidFill>
                  <a:srgbClr val="94A3B8"/>
                </a:solidFill>
              </a:defRPr>
            </a:pPr>
            <a:r>
              <a:t>•  Bypasses traditional broadcast, cable, and satellite television distributors.</a:t>
            </a:r>
          </a:p>
          <a:p>
            <a:pPr>
              <a:spcAft>
                <a:spcPts val="1000"/>
              </a:spcAft>
              <a:defRPr sz="1100">
                <a:solidFill>
                  <a:srgbClr val="94A3B8"/>
                </a:solidFill>
              </a:defRPr>
            </a:pPr>
            <a:r>
              <a:t>•  Examples: Netflix, Amazon Prime Video, Disney+ Hotstar, HBO Max.</a:t>
            </a:r>
          </a:p>
          <a:p>
            <a:pPr>
              <a:spcAft>
                <a:spcPts val="1000"/>
              </a:spcAft>
              <a:defRPr sz="1100">
                <a:solidFill>
                  <a:srgbClr val="94A3B8"/>
                </a:solidFill>
              </a:defRPr>
            </a:pPr>
            <a:r>
              <a:t>•  Exponential scale: modern platforms manage tens of thousands of catalog titles and hundreds of thousands of concurrent viewing streams.</a:t>
            </a:r>
          </a:p>
        </p:txBody>
      </p:sp>
      <p:sp>
        <p:nvSpPr>
          <p:cNvPr id="10" name="Rounded Rectangle 9"/>
          <p:cNvSpPr/>
          <p:nvPr/>
        </p:nvSpPr>
        <p:spPr>
          <a:xfrm>
            <a:off x="4425696" y="1645920"/>
            <a:ext cx="3328416" cy="438912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1755648"/>
            <a:ext cx="3054096" cy="365760"/>
          </a:xfrm>
          <a:prstGeom prst="rect">
            <a:avLst/>
          </a:prstGeom>
          <a:noFill/>
        </p:spPr>
        <p:txBody>
          <a:bodyPr wrap="square">
            <a:spAutoFit/>
          </a:bodyPr>
          <a:lstStyle/>
          <a:p>
            <a:pPr>
              <a:defRPr sz="1200" b="1">
                <a:solidFill>
                  <a:srgbClr val="F8FAFC"/>
                </a:solidFill>
                <a:latin typeface="Segoe UI"/>
              </a:defRPr>
            </a:pPr>
            <a:r>
              <a:t>Why Relational Integrity Matters</a:t>
            </a:r>
          </a:p>
        </p:txBody>
      </p:sp>
      <p:sp>
        <p:nvSpPr>
          <p:cNvPr id="12" name="TextBox 11"/>
          <p:cNvSpPr txBox="1"/>
          <p:nvPr/>
        </p:nvSpPr>
        <p:spPr>
          <a:xfrm>
            <a:off x="4562856" y="2194560"/>
            <a:ext cx="3054096" cy="3657600"/>
          </a:xfrm>
          <a:prstGeom prst="rect">
            <a:avLst/>
          </a:prstGeom>
          <a:noFill/>
        </p:spPr>
        <p:txBody>
          <a:bodyPr wrap="square">
            <a:spAutoFit/>
          </a:bodyPr>
          <a:lstStyle/>
          <a:p>
            <a:pPr>
              <a:spcAft>
                <a:spcPts val="1000"/>
              </a:spcAft>
              <a:defRPr sz="1100">
                <a:solidFill>
                  <a:srgbClr val="94A3B8"/>
                </a:solidFill>
              </a:defRPr>
            </a:pPr>
            <a:r>
              <a:t>•  Financial Billing Accuracy: Subscriptions involve recurring transactions; missing or duplicate records result in revenue loss or user disputes.</a:t>
            </a:r>
          </a:p>
          <a:p>
            <a:pPr>
              <a:spcAft>
                <a:spcPts val="1000"/>
              </a:spcAft>
              <a:defRPr sz="1100">
                <a:solidFill>
                  <a:srgbClr val="94A3B8"/>
                </a:solidFill>
              </a:defRPr>
            </a:pPr>
            <a:r>
              <a:t>•  Temporal Access Windows: Access must be strictly governed by start and expiration dates (end_date &gt;= start_date).</a:t>
            </a:r>
          </a:p>
          <a:p>
            <a:pPr>
              <a:spcAft>
                <a:spcPts val="1000"/>
              </a:spcAft>
              <a:defRPr sz="1100">
                <a:solidFill>
                  <a:srgbClr val="94A3B8"/>
                </a:solidFill>
              </a:defRPr>
            </a:pPr>
            <a:r>
              <a:t>•  Playback Telemetry: Tracking stream progress (minutes watched) requires referential integrity across Users and Content.</a:t>
            </a:r>
          </a:p>
          <a:p>
            <a:pPr>
              <a:spcAft>
                <a:spcPts val="1000"/>
              </a:spcAft>
              <a:defRPr sz="1100">
                <a:solidFill>
                  <a:srgbClr val="94A3B8"/>
                </a:solidFill>
              </a:defRPr>
            </a:pPr>
            <a:r>
              <a:t>•  ACID Guarantees: Activation of paid plans requires atomic execution — updating prior subscriptions and creating new ones in a single transaction.</a:t>
            </a:r>
          </a:p>
        </p:txBody>
      </p:sp>
      <p:sp>
        <p:nvSpPr>
          <p:cNvPr id="13" name="Rounded Rectangle 12"/>
          <p:cNvSpPr/>
          <p:nvPr/>
        </p:nvSpPr>
        <p:spPr>
          <a:xfrm>
            <a:off x="8119872" y="1645920"/>
            <a:ext cx="3328416" cy="438912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1755648"/>
            <a:ext cx="3054096" cy="365760"/>
          </a:xfrm>
          <a:prstGeom prst="rect">
            <a:avLst/>
          </a:prstGeom>
          <a:noFill/>
        </p:spPr>
        <p:txBody>
          <a:bodyPr wrap="square">
            <a:spAutoFit/>
          </a:bodyPr>
          <a:lstStyle/>
          <a:p>
            <a:pPr>
              <a:defRPr sz="1200" b="1">
                <a:solidFill>
                  <a:srgbClr val="F8FAFC"/>
                </a:solidFill>
                <a:latin typeface="Segoe UI"/>
              </a:defRPr>
            </a:pPr>
            <a:r>
              <a:t>The StreamSphere Solution</a:t>
            </a:r>
          </a:p>
        </p:txBody>
      </p:sp>
      <p:sp>
        <p:nvSpPr>
          <p:cNvPr id="15" name="TextBox 14"/>
          <p:cNvSpPr txBox="1"/>
          <p:nvPr/>
        </p:nvSpPr>
        <p:spPr>
          <a:xfrm>
            <a:off x="8257031" y="2194560"/>
            <a:ext cx="3054096" cy="3657600"/>
          </a:xfrm>
          <a:prstGeom prst="rect">
            <a:avLst/>
          </a:prstGeom>
          <a:noFill/>
        </p:spPr>
        <p:txBody>
          <a:bodyPr wrap="square">
            <a:spAutoFit/>
          </a:bodyPr>
          <a:lstStyle/>
          <a:p>
            <a:pPr>
              <a:spcAft>
                <a:spcPts val="1000"/>
              </a:spcAft>
              <a:defRPr sz="1100">
                <a:solidFill>
                  <a:srgbClr val="94A3B8"/>
                </a:solidFill>
              </a:defRPr>
            </a:pPr>
            <a:r>
              <a:t>•  Relational-First Design: 7 interconnected tables modeled in MySQL 8.0 InnoDB engine.</a:t>
            </a:r>
          </a:p>
          <a:p>
            <a:pPr>
              <a:spcAft>
                <a:spcPts val="1000"/>
              </a:spcAft>
              <a:defRPr sz="1100">
                <a:solidFill>
                  <a:srgbClr val="94A3B8"/>
                </a:solidFill>
              </a:defRPr>
            </a:pPr>
            <a:r>
              <a:t>•  Zero Mock Data: Every dashboard card, genre bar, and report is computed live via SQL queries.</a:t>
            </a:r>
          </a:p>
          <a:p>
            <a:pPr>
              <a:spcAft>
                <a:spcPts val="1000"/>
              </a:spcAft>
              <a:defRPr sz="1100">
                <a:solidFill>
                  <a:srgbClr val="94A3B8"/>
                </a:solidFill>
              </a:defRPr>
            </a:pPr>
            <a:r>
              <a:t>•  Integrated SQL Objects: Utilizes MySQL Stored Procedures, Triggers, Views, and Check Constraints.</a:t>
            </a:r>
          </a:p>
          <a:p>
            <a:pPr>
              <a:spcAft>
                <a:spcPts val="1000"/>
              </a:spcAft>
              <a:defRPr sz="1100">
                <a:solidFill>
                  <a:srgbClr val="94A3B8"/>
                </a:solidFill>
              </a:defRPr>
            </a:pPr>
            <a:r>
              <a:t>•  Academic &amp; Professional Rigor: Fully normalized schema (3NF/BCNF) paired with an enterprise REST API and modern UI.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840480" cy="320040"/>
          </a:xfrm>
          <a:prstGeom prst="roundRect">
            <a:avLst/>
          </a:prstGeom>
          <a:solidFill>
            <a:srgbClr val="1920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950" b="1">
                <a:solidFill>
                  <a:srgbClr val="6366F1"/>
                </a:solidFill>
                <a:latin typeface="Segoe UI"/>
              </a:defRPr>
            </a:pPr>
            <a:r>
              <a:t>2. PROBLEM STATEMENT &amp; SCOPE</a:t>
            </a:r>
          </a:p>
        </p:txBody>
      </p:sp>
      <p:sp>
        <p:nvSpPr>
          <p:cNvPr id="4" name="TextBox 3"/>
          <p:cNvSpPr txBox="1"/>
          <p:nvPr/>
        </p:nvSpPr>
        <p:spPr>
          <a:xfrm>
            <a:off x="731520" y="777240"/>
            <a:ext cx="10698480" cy="640080"/>
          </a:xfrm>
          <a:prstGeom prst="rect">
            <a:avLst/>
          </a:prstGeom>
          <a:noFill/>
        </p:spPr>
        <p:txBody>
          <a:bodyPr wrap="square">
            <a:spAutoFit/>
          </a:bodyPr>
          <a:lstStyle/>
          <a:p>
            <a:pPr>
              <a:defRPr sz="2200" b="1">
                <a:solidFill>
                  <a:srgbClr val="F8FAFC"/>
                </a:solidFill>
                <a:latin typeface="Segoe UI"/>
              </a:defRPr>
            </a:pPr>
            <a:r>
              <a:t>Operational Challenges &amp; Technical Project Objectives</a:t>
            </a:r>
          </a:p>
          <a:p>
            <a:pPr>
              <a:defRPr sz="1100" i="1">
                <a:solidFill>
                  <a:srgbClr val="94A3B8"/>
                </a:solidFill>
                <a:latin typeface="Segoe UI"/>
              </a:defRPr>
            </a:pPr>
            <a:r>
              <a:t>Bridging the gap between raw media catalogs and reliable, normalized database management</a:t>
            </a:r>
          </a:p>
        </p:txBody>
      </p:sp>
      <p:sp>
        <p:nvSpPr>
          <p:cNvPr id="5" name="TextBox 4"/>
          <p:cNvSpPr txBox="1"/>
          <p:nvPr/>
        </p:nvSpPr>
        <p:spPr>
          <a:xfrm>
            <a:off x="731520" y="6400800"/>
            <a:ext cx="10698480" cy="365760"/>
          </a:xfrm>
          <a:prstGeom prst="rect">
            <a:avLst/>
          </a:prstGeom>
          <a:noFill/>
        </p:spPr>
        <p:txBody>
          <a:bodyPr wrap="none">
            <a:spAutoFit/>
          </a:bodyPr>
          <a:lstStyle/>
          <a:p>
            <a:pPr>
              <a:defRPr sz="850">
                <a:solidFill>
                  <a:srgbClr val="64748B"/>
                </a:solidFill>
                <a:latin typeface="Segoe UI"/>
              </a:defRPr>
            </a:pPr>
            <a:r>
              <a:t>StreamSphere — OTT Platform Management System  |  DBMS Laboratory Mini-Project</a:t>
            </a:r>
          </a:p>
        </p:txBody>
      </p:sp>
      <p:sp>
        <p:nvSpPr>
          <p:cNvPr id="6" name="TextBox 5"/>
          <p:cNvSpPr txBox="1"/>
          <p:nvPr/>
        </p:nvSpPr>
        <p:spPr>
          <a:xfrm>
            <a:off x="10515600" y="6400800"/>
            <a:ext cx="914400" cy="365760"/>
          </a:xfrm>
          <a:prstGeom prst="rect">
            <a:avLst/>
          </a:prstGeom>
          <a:noFill/>
        </p:spPr>
        <p:txBody>
          <a:bodyPr wrap="none">
            <a:spAutoFit/>
          </a:bodyPr>
          <a:lstStyle/>
          <a:p>
            <a:pPr algn="r">
              <a:defRPr sz="850" b="1">
                <a:solidFill>
                  <a:srgbClr val="6366F1"/>
                </a:solidFill>
                <a:latin typeface="Segoe UI"/>
              </a:defRPr>
            </a:pPr>
            <a:r>
              <a:t>3 / 12</a:t>
            </a:r>
          </a:p>
        </p:txBody>
      </p:sp>
      <p:sp>
        <p:nvSpPr>
          <p:cNvPr id="7" name="Rounded Rectangle 6"/>
          <p:cNvSpPr/>
          <p:nvPr/>
        </p:nvSpPr>
        <p:spPr>
          <a:xfrm>
            <a:off x="731520" y="1645920"/>
            <a:ext cx="5120640" cy="4389120"/>
          </a:xfrm>
          <a:prstGeom prst="roundRect">
            <a:avLst/>
          </a:prstGeom>
          <a:solidFill>
            <a:srgbClr val="12172B"/>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55648"/>
            <a:ext cx="4846320" cy="365760"/>
          </a:xfrm>
          <a:prstGeom prst="rect">
            <a:avLst/>
          </a:prstGeom>
          <a:noFill/>
        </p:spPr>
        <p:txBody>
          <a:bodyPr wrap="square">
            <a:spAutoFit/>
          </a:bodyPr>
          <a:lstStyle/>
          <a:p>
            <a:pPr>
              <a:defRPr sz="1200" b="1">
                <a:solidFill>
                  <a:srgbClr val="F8FAFC"/>
                </a:solidFill>
                <a:latin typeface="Segoe UI"/>
              </a:defRPr>
            </a:pPr>
            <a:r>
              <a:t>Operational Challenges &amp; Problem Statement</a:t>
            </a:r>
          </a:p>
        </p:txBody>
      </p:sp>
      <p:sp>
        <p:nvSpPr>
          <p:cNvPr id="9" name="TextBox 8"/>
          <p:cNvSpPr txBox="1"/>
          <p:nvPr/>
        </p:nvSpPr>
        <p:spPr>
          <a:xfrm>
            <a:off x="914400" y="2194560"/>
            <a:ext cx="4754880" cy="3657600"/>
          </a:xfrm>
          <a:prstGeom prst="rect">
            <a:avLst/>
          </a:prstGeom>
          <a:noFill/>
        </p:spPr>
        <p:txBody>
          <a:bodyPr wrap="square">
            <a:spAutoFit/>
          </a:bodyPr>
          <a:lstStyle/>
          <a:p>
            <a:pPr>
              <a:spcAft>
                <a:spcPts val="800"/>
              </a:spcAft>
              <a:defRPr sz="1100" b="1">
                <a:solidFill>
                  <a:srgbClr val="EF4444"/>
                </a:solidFill>
              </a:defRPr>
            </a:pPr>
            <a:r>
              <a:t>  Data Redundancy in Catalogs: </a:t>
            </a:r>
            <a:r>
              <a:rPr b="0">
                <a:solidFill>
                  <a:srgbClr val="94A3B8"/>
                </a:solidFill>
              </a:rPr>
              <a:t>Unnormalized flat schemas store repetitive genre names and plan pricing strings, leading to high storage overhead and update anomalies.</a:t>
            </a:r>
          </a:p>
          <a:p>
            <a:pPr>
              <a:spcAft>
                <a:spcPts val="800"/>
              </a:spcAft>
              <a:defRPr sz="1100" b="1">
                <a:solidFill>
                  <a:srgbClr val="EF4444"/>
                </a:solidFill>
              </a:defRPr>
            </a:pPr>
            <a:r>
              <a:t>  Subscription Overlaps &amp; Inconsistencies: </a:t>
            </a:r>
            <a:r>
              <a:rPr b="0">
                <a:solidFill>
                  <a:srgbClr val="94A3B8"/>
                </a:solidFill>
              </a:rPr>
              <a:t>Without atomic database procedures, users can hold conflicting active subscriptions or invalid expiration dates (e.g. end date earlier than start date).</a:t>
            </a:r>
          </a:p>
          <a:p>
            <a:pPr>
              <a:spcAft>
                <a:spcPts val="800"/>
              </a:spcAft>
              <a:defRPr sz="1100" b="1">
                <a:solidFill>
                  <a:srgbClr val="EF4444"/>
                </a:solidFill>
              </a:defRPr>
            </a:pPr>
            <a:r>
              <a:t>  Orphaned Records &amp; Integrity Loss: </a:t>
            </a:r>
            <a:r>
              <a:rPr b="0">
                <a:solidFill>
                  <a:srgbClr val="94A3B8"/>
                </a:solidFill>
              </a:rPr>
              <a:t>Deleting a user or content title without defined foreign key deletion rules leaves dangling watch telemetry and unlinked ratings.</a:t>
            </a:r>
          </a:p>
          <a:p>
            <a:pPr>
              <a:spcAft>
                <a:spcPts val="800"/>
              </a:spcAft>
              <a:defRPr sz="1100" b="1">
                <a:solidFill>
                  <a:srgbClr val="EF4444"/>
                </a:solidFill>
              </a:defRPr>
            </a:pPr>
            <a:r>
              <a:t>  Academic Simulation Fallacy: </a:t>
            </a:r>
            <a:r>
              <a:rPr b="0">
                <a:solidFill>
                  <a:srgbClr val="94A3B8"/>
                </a:solidFill>
              </a:rPr>
              <a:t>Many DBMS academic projects rely on hardcoded JavaScript arrays or client-side mock storage, failing to demonstrate real SQL query execution.</a:t>
            </a:r>
          </a:p>
        </p:txBody>
      </p:sp>
      <p:sp>
        <p:nvSpPr>
          <p:cNvPr id="10" name="Rounded Rectangle 9"/>
          <p:cNvSpPr/>
          <p:nvPr/>
        </p:nvSpPr>
        <p:spPr>
          <a:xfrm>
            <a:off x="6217920" y="1645920"/>
            <a:ext cx="5212080" cy="4389120"/>
          </a:xfrm>
          <a:prstGeom prst="roundRect">
            <a:avLst/>
          </a:prstGeom>
          <a:solidFill>
            <a:srgbClr val="12172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755648"/>
            <a:ext cx="4937760" cy="365760"/>
          </a:xfrm>
          <a:prstGeom prst="rect">
            <a:avLst/>
          </a:prstGeom>
          <a:noFill/>
        </p:spPr>
        <p:txBody>
          <a:bodyPr wrap="square">
            <a:spAutoFit/>
          </a:bodyPr>
          <a:lstStyle/>
          <a:p>
            <a:pPr>
              <a:defRPr sz="1200" b="1">
                <a:solidFill>
                  <a:srgbClr val="F8FAFC"/>
                </a:solidFill>
                <a:latin typeface="Segoe UI"/>
              </a:defRPr>
            </a:pPr>
            <a:r>
              <a:t>Key Project Objectives &amp; System Scope</a:t>
            </a:r>
          </a:p>
        </p:txBody>
      </p:sp>
      <p:sp>
        <p:nvSpPr>
          <p:cNvPr id="12" name="TextBox 11"/>
          <p:cNvSpPr txBox="1"/>
          <p:nvPr/>
        </p:nvSpPr>
        <p:spPr>
          <a:xfrm>
            <a:off x="6400800" y="2194560"/>
            <a:ext cx="4846320" cy="3657600"/>
          </a:xfrm>
          <a:prstGeom prst="rect">
            <a:avLst/>
          </a:prstGeom>
          <a:noFill/>
        </p:spPr>
        <p:txBody>
          <a:bodyPr wrap="square">
            <a:spAutoFit/>
          </a:bodyPr>
          <a:lstStyle/>
          <a:p>
            <a:pPr>
              <a:spcAft>
                <a:spcPts val="700"/>
              </a:spcAft>
              <a:defRPr sz="1100" b="1">
                <a:solidFill>
                  <a:srgbClr val="10B981"/>
                </a:solidFill>
              </a:defRPr>
            </a:pPr>
            <a:r>
              <a:t>  Formally Normalized Schema: </a:t>
            </a:r>
            <a:r>
              <a:rPr b="0">
                <a:solidFill>
                  <a:srgbClr val="94A3B8"/>
                </a:solidFill>
              </a:rPr>
              <a:t>Design a 7-table relational schema meeting Third Normal Form (3NF) and BCNF standards to eliminate all update, insertion, and deletion anomalies.</a:t>
            </a:r>
          </a:p>
          <a:p>
            <a:pPr>
              <a:spcAft>
                <a:spcPts val="700"/>
              </a:spcAft>
              <a:defRPr sz="1100" b="1">
                <a:solidFill>
                  <a:srgbClr val="10B981"/>
                </a:solidFill>
              </a:defRPr>
            </a:pPr>
            <a:r>
              <a:t>  Transactional Procedure Execution: </a:t>
            </a:r>
            <a:r>
              <a:rPr b="0">
                <a:solidFill>
                  <a:srgbClr val="94A3B8"/>
                </a:solidFill>
              </a:rPr>
              <a:t>Implement a MySQL Stored Procedure (`sp_register_subscription`) to atomically validate plans, calculate terms, and update active statuses.</a:t>
            </a:r>
          </a:p>
          <a:p>
            <a:pPr>
              <a:spcAft>
                <a:spcPts val="700"/>
              </a:spcAft>
              <a:defRPr sz="1100" b="1">
                <a:solidFill>
                  <a:srgbClr val="10B981"/>
                </a:solidFill>
              </a:defRPr>
            </a:pPr>
            <a:r>
              <a:t>  Active Trigger-Based Enforcement: </a:t>
            </a:r>
            <a:r>
              <a:rPr b="0">
                <a:solidFill>
                  <a:srgbClr val="94A3B8"/>
                </a:solidFill>
              </a:rPr>
              <a:t>Implement server-side MySQL Triggers (`trg_validate_subscription_insert`) to block invalid dates and negative prices at the engine level.</a:t>
            </a:r>
          </a:p>
          <a:p>
            <a:pPr>
              <a:spcAft>
                <a:spcPts val="700"/>
              </a:spcAft>
              <a:defRPr sz="1100" b="1">
                <a:solidFill>
                  <a:srgbClr val="10B981"/>
                </a:solidFill>
              </a:defRPr>
            </a:pPr>
            <a:r>
              <a:t>  Analytical Querying &amp; Views: </a:t>
            </a:r>
            <a:r>
              <a:rPr b="0">
                <a:solidFill>
                  <a:srgbClr val="94A3B8"/>
                </a:solidFill>
              </a:rPr>
              <a:t>Create pre-aggregated SQL Views (`vw_content_performance`) and report queries demonstrating JOIN, GROUP BY, SUM, AVG, and HAVING.</a:t>
            </a:r>
          </a:p>
          <a:p>
            <a:pPr>
              <a:spcAft>
                <a:spcPts val="700"/>
              </a:spcAft>
              <a:defRPr sz="1100" b="1">
                <a:solidFill>
                  <a:srgbClr val="10B981"/>
                </a:solidFill>
              </a:defRPr>
            </a:pPr>
            <a:r>
              <a:t>  Project Scope Boundary: </a:t>
            </a:r>
            <a:r>
              <a:rPr b="0">
                <a:solidFill>
                  <a:srgbClr val="94A3B8"/>
                </a:solidFill>
              </a:rPr>
              <a:t>Focuses on administrative operations, subscriber lifecycle, and telemetry analytics (excluding actual video file streaming and CDN bandwidth management).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840480" cy="320040"/>
          </a:xfrm>
          <a:prstGeom prst="roundRect">
            <a:avLst/>
          </a:prstGeom>
          <a:solidFill>
            <a:srgbClr val="1920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950" b="1">
                <a:solidFill>
                  <a:srgbClr val="6366F1"/>
                </a:solidFill>
                <a:latin typeface="Segoe UI"/>
              </a:defRPr>
            </a:pPr>
            <a:r>
              <a:t>3. SYSTEM ARCHITECTURE</a:t>
            </a:r>
          </a:p>
        </p:txBody>
      </p:sp>
      <p:sp>
        <p:nvSpPr>
          <p:cNvPr id="4" name="TextBox 3"/>
          <p:cNvSpPr txBox="1"/>
          <p:nvPr/>
        </p:nvSpPr>
        <p:spPr>
          <a:xfrm>
            <a:off x="731520" y="777240"/>
            <a:ext cx="10698480" cy="640080"/>
          </a:xfrm>
          <a:prstGeom prst="rect">
            <a:avLst/>
          </a:prstGeom>
          <a:noFill/>
        </p:spPr>
        <p:txBody>
          <a:bodyPr wrap="square">
            <a:spAutoFit/>
          </a:bodyPr>
          <a:lstStyle/>
          <a:p>
            <a:pPr>
              <a:defRPr sz="2200" b="1">
                <a:solidFill>
                  <a:srgbClr val="F8FAFC"/>
                </a:solidFill>
                <a:latin typeface="Segoe UI"/>
              </a:defRPr>
            </a:pPr>
            <a:r>
              <a:t>Three-Tier Client-Server Architecture</a:t>
            </a:r>
          </a:p>
          <a:p>
            <a:pPr>
              <a:defRPr sz="1100" i="1">
                <a:solidFill>
                  <a:srgbClr val="94A3B8"/>
                </a:solidFill>
                <a:latin typeface="Segoe UI"/>
              </a:defRPr>
            </a:pPr>
            <a:r>
              <a:t>End-to-end data flow: User Action → React Client → Express REST API → MySQL 8.0 Engine</a:t>
            </a:r>
          </a:p>
        </p:txBody>
      </p:sp>
      <p:sp>
        <p:nvSpPr>
          <p:cNvPr id="5" name="TextBox 4"/>
          <p:cNvSpPr txBox="1"/>
          <p:nvPr/>
        </p:nvSpPr>
        <p:spPr>
          <a:xfrm>
            <a:off x="731520" y="6400800"/>
            <a:ext cx="10698480" cy="365760"/>
          </a:xfrm>
          <a:prstGeom prst="rect">
            <a:avLst/>
          </a:prstGeom>
          <a:noFill/>
        </p:spPr>
        <p:txBody>
          <a:bodyPr wrap="none">
            <a:spAutoFit/>
          </a:bodyPr>
          <a:lstStyle/>
          <a:p>
            <a:pPr>
              <a:defRPr sz="850">
                <a:solidFill>
                  <a:srgbClr val="64748B"/>
                </a:solidFill>
                <a:latin typeface="Segoe UI"/>
              </a:defRPr>
            </a:pPr>
            <a:r>
              <a:t>StreamSphere — OTT Platform Management System  |  DBMS Laboratory Mini-Project</a:t>
            </a:r>
          </a:p>
        </p:txBody>
      </p:sp>
      <p:sp>
        <p:nvSpPr>
          <p:cNvPr id="6" name="TextBox 5"/>
          <p:cNvSpPr txBox="1"/>
          <p:nvPr/>
        </p:nvSpPr>
        <p:spPr>
          <a:xfrm>
            <a:off x="10515600" y="6400800"/>
            <a:ext cx="914400" cy="365760"/>
          </a:xfrm>
          <a:prstGeom prst="rect">
            <a:avLst/>
          </a:prstGeom>
          <a:noFill/>
        </p:spPr>
        <p:txBody>
          <a:bodyPr wrap="none">
            <a:spAutoFit/>
          </a:bodyPr>
          <a:lstStyle/>
          <a:p>
            <a:pPr algn="r">
              <a:defRPr sz="850" b="1">
                <a:solidFill>
                  <a:srgbClr val="6366F1"/>
                </a:solidFill>
                <a:latin typeface="Segoe UI"/>
              </a:defRPr>
            </a:pPr>
            <a:r>
              <a:t>4 / 12</a:t>
            </a:r>
          </a:p>
        </p:txBody>
      </p:sp>
      <p:sp>
        <p:nvSpPr>
          <p:cNvPr id="7" name="Rounded Rectangle 6"/>
          <p:cNvSpPr/>
          <p:nvPr/>
        </p:nvSpPr>
        <p:spPr>
          <a:xfrm>
            <a:off x="731520" y="1645920"/>
            <a:ext cx="10698480" cy="1005840"/>
          </a:xfrm>
          <a:prstGeom prst="roundRect">
            <a:avLst/>
          </a:prstGeom>
          <a:solidFill>
            <a:srgbClr val="19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8FAFC"/>
                </a:solidFill>
                <a:latin typeface="Segoe UI"/>
              </a:defRPr>
            </a:pPr>
            <a:r>
              <a:t>CLIENT TIER (React + Vite)  ──[ HTTP / REST JSON ]──&gt;  APPLICATION TIER (Node + Express)  ──[ Parameterized SQL ]──&gt;  DATABASE TIER (MySQL 8.0)</a:t>
            </a:r>
          </a:p>
          <a:p>
            <a:pPr algn="ctr">
              <a:defRPr sz="950">
                <a:solidFill>
                  <a:srgbClr val="06B6D4"/>
                </a:solidFill>
                <a:latin typeface="Segoe UI"/>
              </a:defRPr>
            </a:pPr>
            <a:r>
              <a:t>Single Page Application (SPA)  |  Role-Based JWT Auth  |  Prepared Statements (Anti-SQLi)  |  InnoDB ACID Engine</a:t>
            </a:r>
          </a:p>
        </p:txBody>
      </p:sp>
      <p:sp>
        <p:nvSpPr>
          <p:cNvPr id="8" name="Rounded Rectangle 7"/>
          <p:cNvSpPr/>
          <p:nvPr/>
        </p:nvSpPr>
        <p:spPr>
          <a:xfrm>
            <a:off x="731520" y="2834640"/>
            <a:ext cx="3328416" cy="329184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44368"/>
            <a:ext cx="3054096" cy="365760"/>
          </a:xfrm>
          <a:prstGeom prst="rect">
            <a:avLst/>
          </a:prstGeom>
          <a:noFill/>
        </p:spPr>
        <p:txBody>
          <a:bodyPr wrap="square">
            <a:spAutoFit/>
          </a:bodyPr>
          <a:lstStyle/>
          <a:p>
            <a:pPr>
              <a:defRPr sz="1200" b="1">
                <a:solidFill>
                  <a:srgbClr val="F8FAFC"/>
                </a:solidFill>
                <a:latin typeface="Segoe UI"/>
              </a:defRPr>
            </a:pPr>
            <a:r>
              <a:t>Client Tier: React 18 &amp; Vite</a:t>
            </a:r>
          </a:p>
        </p:txBody>
      </p:sp>
      <p:sp>
        <p:nvSpPr>
          <p:cNvPr id="10" name="TextBox 9"/>
          <p:cNvSpPr txBox="1"/>
          <p:nvPr/>
        </p:nvSpPr>
        <p:spPr>
          <a:xfrm>
            <a:off x="868680" y="3337560"/>
            <a:ext cx="3054096" cy="2651760"/>
          </a:xfrm>
          <a:prstGeom prst="rect">
            <a:avLst/>
          </a:prstGeom>
          <a:noFill/>
        </p:spPr>
        <p:txBody>
          <a:bodyPr wrap="square">
            <a:spAutoFit/>
          </a:bodyPr>
          <a:lstStyle/>
          <a:p>
            <a:pPr>
              <a:spcAft>
                <a:spcPts val="600"/>
              </a:spcAft>
              <a:defRPr sz="1000">
                <a:solidFill>
                  <a:srgbClr val="94A3B8"/>
                </a:solidFill>
              </a:defRPr>
            </a:pPr>
            <a:r>
              <a:t>•  Vite Build Tool: Lightning-fast HMR and optimized production bundles.</a:t>
            </a:r>
          </a:p>
          <a:p>
            <a:pPr>
              <a:spcAft>
                <a:spcPts val="600"/>
              </a:spcAft>
              <a:defRPr sz="1000">
                <a:solidFill>
                  <a:srgbClr val="94A3B8"/>
                </a:solidFill>
              </a:defRPr>
            </a:pPr>
            <a:r>
              <a:t>•  Component Architecture: Reusable views for Dashboard, Catalog, Subscriptions, and Reports.</a:t>
            </a:r>
          </a:p>
          <a:p>
            <a:pPr>
              <a:spcAft>
                <a:spcPts val="600"/>
              </a:spcAft>
              <a:defRPr sz="1000">
                <a:solidFill>
                  <a:srgbClr val="94A3B8"/>
                </a:solidFill>
              </a:defRPr>
            </a:pPr>
            <a:r>
              <a:t>•  Lucide Icons &amp; Modern CSS: Custom dark glassmorphism theme inspired by premier streaming platforms.</a:t>
            </a:r>
          </a:p>
          <a:p>
            <a:pPr>
              <a:spcAft>
                <a:spcPts val="600"/>
              </a:spcAft>
              <a:defRPr sz="1000">
                <a:solidFill>
                  <a:srgbClr val="94A3B8"/>
                </a:solidFill>
              </a:defRPr>
            </a:pPr>
            <a:r>
              <a:t>•  Reactive State: Synchronous UI feedback on CRUD operations with toast notifications.</a:t>
            </a:r>
          </a:p>
        </p:txBody>
      </p:sp>
      <p:sp>
        <p:nvSpPr>
          <p:cNvPr id="11" name="Rounded Rectangle 10"/>
          <p:cNvSpPr/>
          <p:nvPr/>
        </p:nvSpPr>
        <p:spPr>
          <a:xfrm>
            <a:off x="4425696" y="2834640"/>
            <a:ext cx="3328416" cy="329184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2856" y="2944368"/>
            <a:ext cx="3054096" cy="365760"/>
          </a:xfrm>
          <a:prstGeom prst="rect">
            <a:avLst/>
          </a:prstGeom>
          <a:noFill/>
        </p:spPr>
        <p:txBody>
          <a:bodyPr wrap="square">
            <a:spAutoFit/>
          </a:bodyPr>
          <a:lstStyle/>
          <a:p>
            <a:pPr>
              <a:defRPr sz="1200" b="1">
                <a:solidFill>
                  <a:srgbClr val="F8FAFC"/>
                </a:solidFill>
                <a:latin typeface="Segoe UI"/>
              </a:defRPr>
            </a:pPr>
            <a:r>
              <a:t>App Tier: Node.js &amp; Express 5</a:t>
            </a:r>
          </a:p>
        </p:txBody>
      </p:sp>
      <p:sp>
        <p:nvSpPr>
          <p:cNvPr id="13" name="TextBox 12"/>
          <p:cNvSpPr txBox="1"/>
          <p:nvPr/>
        </p:nvSpPr>
        <p:spPr>
          <a:xfrm>
            <a:off x="4562856" y="3337560"/>
            <a:ext cx="3054096" cy="2651760"/>
          </a:xfrm>
          <a:prstGeom prst="rect">
            <a:avLst/>
          </a:prstGeom>
          <a:noFill/>
        </p:spPr>
        <p:txBody>
          <a:bodyPr wrap="square">
            <a:spAutoFit/>
          </a:bodyPr>
          <a:lstStyle/>
          <a:p>
            <a:pPr>
              <a:spcAft>
                <a:spcPts val="600"/>
              </a:spcAft>
              <a:defRPr sz="1000">
                <a:solidFill>
                  <a:srgbClr val="94A3B8"/>
                </a:solidFill>
              </a:defRPr>
            </a:pPr>
            <a:r>
              <a:t>•  Express 5 REST API: Structured modular routes for users, content, subscriptions, and telemetry.</a:t>
            </a:r>
          </a:p>
          <a:p>
            <a:pPr>
              <a:spcAft>
                <a:spcPts val="600"/>
              </a:spcAft>
              <a:defRPr sz="1000">
                <a:solidFill>
                  <a:srgbClr val="94A3B8"/>
                </a:solidFill>
              </a:defRPr>
            </a:pPr>
            <a:r>
              <a:t>•  Security &amp; Authentication: One-way bcrypt password hashing with salt rounds and signed JWT authorization.</a:t>
            </a:r>
          </a:p>
          <a:p>
            <a:pPr>
              <a:spcAft>
                <a:spcPts val="600"/>
              </a:spcAft>
              <a:defRPr sz="1000">
                <a:solidFill>
                  <a:srgbClr val="94A3B8"/>
                </a:solidFill>
              </a:defRPr>
            </a:pPr>
            <a:r>
              <a:t>•  Parameterized Prepared SQL: Zero string concatenation in queries, strictly preventing SQL Injection attacks.</a:t>
            </a:r>
          </a:p>
          <a:p>
            <a:pPr>
              <a:spcAft>
                <a:spcPts val="600"/>
              </a:spcAft>
              <a:defRPr sz="1000">
                <a:solidFill>
                  <a:srgbClr val="94A3B8"/>
                </a:solidFill>
              </a:defRPr>
            </a:pPr>
            <a:r>
              <a:t>•  Environment Secrets: Isolated database credentials managed via .env configuration.</a:t>
            </a:r>
          </a:p>
        </p:txBody>
      </p:sp>
      <p:sp>
        <p:nvSpPr>
          <p:cNvPr id="14" name="Rounded Rectangle 13"/>
          <p:cNvSpPr/>
          <p:nvPr/>
        </p:nvSpPr>
        <p:spPr>
          <a:xfrm>
            <a:off x="8119872" y="2834640"/>
            <a:ext cx="3328416" cy="329184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7032" y="2944368"/>
            <a:ext cx="3054096" cy="365760"/>
          </a:xfrm>
          <a:prstGeom prst="rect">
            <a:avLst/>
          </a:prstGeom>
          <a:noFill/>
        </p:spPr>
        <p:txBody>
          <a:bodyPr wrap="square">
            <a:spAutoFit/>
          </a:bodyPr>
          <a:lstStyle/>
          <a:p>
            <a:pPr>
              <a:defRPr sz="1200" b="1">
                <a:solidFill>
                  <a:srgbClr val="F8FAFC"/>
                </a:solidFill>
                <a:latin typeface="Segoe UI"/>
              </a:defRPr>
            </a:pPr>
            <a:r>
              <a:t>Data Tier: MySQL 8.0 InnoDB</a:t>
            </a:r>
          </a:p>
        </p:txBody>
      </p:sp>
      <p:sp>
        <p:nvSpPr>
          <p:cNvPr id="16" name="TextBox 15"/>
          <p:cNvSpPr txBox="1"/>
          <p:nvPr/>
        </p:nvSpPr>
        <p:spPr>
          <a:xfrm>
            <a:off x="8257031" y="3337560"/>
            <a:ext cx="3054096" cy="2651760"/>
          </a:xfrm>
          <a:prstGeom prst="rect">
            <a:avLst/>
          </a:prstGeom>
          <a:noFill/>
        </p:spPr>
        <p:txBody>
          <a:bodyPr wrap="square">
            <a:spAutoFit/>
          </a:bodyPr>
          <a:lstStyle/>
          <a:p>
            <a:pPr>
              <a:spcAft>
                <a:spcPts val="600"/>
              </a:spcAft>
              <a:defRPr sz="1000">
                <a:solidFill>
                  <a:srgbClr val="94A3B8"/>
                </a:solidFill>
              </a:defRPr>
            </a:pPr>
            <a:r>
              <a:t>•  InnoDB Engine: Full ACID transactional safety, foreign key constraint enforcement, and row-level locking.</a:t>
            </a:r>
          </a:p>
          <a:p>
            <a:pPr>
              <a:spcAft>
                <a:spcPts val="600"/>
              </a:spcAft>
              <a:defRPr sz="1000">
                <a:solidFill>
                  <a:srgbClr val="94A3B8"/>
                </a:solidFill>
              </a:defRPr>
            </a:pPr>
            <a:r>
              <a:t>•  7 Relational Tables: High-performance indexed storage for catalogs, users, billing, and logs.</a:t>
            </a:r>
          </a:p>
          <a:p>
            <a:pPr>
              <a:spcAft>
                <a:spcPts val="600"/>
              </a:spcAft>
              <a:defRPr sz="1000">
                <a:solidFill>
                  <a:srgbClr val="94A3B8"/>
                </a:solidFill>
              </a:defRPr>
            </a:pPr>
            <a:r>
              <a:t>•  Database Programmability: Pre-compiled Stored Procedures, Triggers, Views, and Stored Functions.</a:t>
            </a:r>
          </a:p>
          <a:p>
            <a:pPr>
              <a:spcAft>
                <a:spcPts val="600"/>
              </a:spcAft>
              <a:defRPr sz="1000">
                <a:solidFill>
                  <a:srgbClr val="94A3B8"/>
                </a:solidFill>
              </a:defRPr>
            </a:pPr>
            <a:r>
              <a:t>•  Connection Pooling: Managed via mysql2/promise with connection limits and health checks.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840480" cy="320040"/>
          </a:xfrm>
          <a:prstGeom prst="roundRect">
            <a:avLst/>
          </a:prstGeom>
          <a:solidFill>
            <a:srgbClr val="1920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950" b="1">
                <a:solidFill>
                  <a:srgbClr val="6366F1"/>
                </a:solidFill>
                <a:latin typeface="Segoe UI"/>
              </a:defRPr>
            </a:pPr>
            <a:r>
              <a:t>4. ENTITY-RELATIONSHIP DESIGN</a:t>
            </a:r>
          </a:p>
        </p:txBody>
      </p:sp>
      <p:sp>
        <p:nvSpPr>
          <p:cNvPr id="4" name="TextBox 3"/>
          <p:cNvSpPr txBox="1"/>
          <p:nvPr/>
        </p:nvSpPr>
        <p:spPr>
          <a:xfrm>
            <a:off x="731520" y="777240"/>
            <a:ext cx="10698480" cy="640080"/>
          </a:xfrm>
          <a:prstGeom prst="rect">
            <a:avLst/>
          </a:prstGeom>
          <a:noFill/>
        </p:spPr>
        <p:txBody>
          <a:bodyPr wrap="square">
            <a:spAutoFit/>
          </a:bodyPr>
          <a:lstStyle/>
          <a:p>
            <a:pPr>
              <a:defRPr sz="2200" b="1">
                <a:solidFill>
                  <a:srgbClr val="F8FAFC"/>
                </a:solidFill>
                <a:latin typeface="Segoe UI"/>
              </a:defRPr>
            </a:pPr>
            <a:r>
              <a:t>Conceptual Entity-Relationship (ER) Model</a:t>
            </a:r>
          </a:p>
          <a:p>
            <a:pPr>
              <a:defRPr sz="1100" i="1">
                <a:solidFill>
                  <a:srgbClr val="94A3B8"/>
                </a:solidFill>
                <a:latin typeface="Segoe UI"/>
              </a:defRPr>
            </a:pPr>
            <a:r>
              <a:t>Visual mapping of 7 core entities, primary keys, foreign keys, and relationship cardinalities</a:t>
            </a:r>
          </a:p>
        </p:txBody>
      </p:sp>
      <p:sp>
        <p:nvSpPr>
          <p:cNvPr id="5" name="TextBox 4"/>
          <p:cNvSpPr txBox="1"/>
          <p:nvPr/>
        </p:nvSpPr>
        <p:spPr>
          <a:xfrm>
            <a:off x="731520" y="6400800"/>
            <a:ext cx="10698480" cy="365760"/>
          </a:xfrm>
          <a:prstGeom prst="rect">
            <a:avLst/>
          </a:prstGeom>
          <a:noFill/>
        </p:spPr>
        <p:txBody>
          <a:bodyPr wrap="none">
            <a:spAutoFit/>
          </a:bodyPr>
          <a:lstStyle/>
          <a:p>
            <a:pPr>
              <a:defRPr sz="850">
                <a:solidFill>
                  <a:srgbClr val="64748B"/>
                </a:solidFill>
                <a:latin typeface="Segoe UI"/>
              </a:defRPr>
            </a:pPr>
            <a:r>
              <a:t>StreamSphere — OTT Platform Management System  |  DBMS Laboratory Mini-Project</a:t>
            </a:r>
          </a:p>
        </p:txBody>
      </p:sp>
      <p:sp>
        <p:nvSpPr>
          <p:cNvPr id="6" name="TextBox 5"/>
          <p:cNvSpPr txBox="1"/>
          <p:nvPr/>
        </p:nvSpPr>
        <p:spPr>
          <a:xfrm>
            <a:off x="10515600" y="6400800"/>
            <a:ext cx="914400" cy="365760"/>
          </a:xfrm>
          <a:prstGeom prst="rect">
            <a:avLst/>
          </a:prstGeom>
          <a:noFill/>
        </p:spPr>
        <p:txBody>
          <a:bodyPr wrap="none">
            <a:spAutoFit/>
          </a:bodyPr>
          <a:lstStyle/>
          <a:p>
            <a:pPr algn="r">
              <a:defRPr sz="850" b="1">
                <a:solidFill>
                  <a:srgbClr val="6366F1"/>
                </a:solidFill>
                <a:latin typeface="Segoe UI"/>
              </a:defRPr>
            </a:pPr>
            <a:r>
              <a:t>5 / 12</a:t>
            </a:r>
          </a:p>
        </p:txBody>
      </p:sp>
      <p:sp>
        <p:nvSpPr>
          <p:cNvPr id="7" name="Rounded Rectangle 6"/>
          <p:cNvSpPr/>
          <p:nvPr/>
        </p:nvSpPr>
        <p:spPr>
          <a:xfrm>
            <a:off x="731520" y="1645920"/>
            <a:ext cx="5486400" cy="438912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55648"/>
            <a:ext cx="5212080" cy="365760"/>
          </a:xfrm>
          <a:prstGeom prst="rect">
            <a:avLst/>
          </a:prstGeom>
          <a:noFill/>
        </p:spPr>
        <p:txBody>
          <a:bodyPr wrap="square">
            <a:spAutoFit/>
          </a:bodyPr>
          <a:lstStyle/>
          <a:p>
            <a:pPr>
              <a:defRPr sz="1200" b="1">
                <a:solidFill>
                  <a:srgbClr val="F8FAFC"/>
                </a:solidFill>
                <a:latin typeface="Segoe UI"/>
              </a:defRPr>
            </a:pPr>
            <a:r>
              <a:t>Implemented Entity Definitions &amp; Keys</a:t>
            </a:r>
          </a:p>
        </p:txBody>
      </p:sp>
      <p:sp>
        <p:nvSpPr>
          <p:cNvPr id="9" name="TextBox 8"/>
          <p:cNvSpPr txBox="1"/>
          <p:nvPr/>
        </p:nvSpPr>
        <p:spPr>
          <a:xfrm>
            <a:off x="868680" y="2148840"/>
            <a:ext cx="5212080" cy="3749039"/>
          </a:xfrm>
          <a:prstGeom prst="rect">
            <a:avLst/>
          </a:prstGeom>
          <a:noFill/>
        </p:spPr>
        <p:txBody>
          <a:bodyPr wrap="square">
            <a:spAutoFit/>
          </a:bodyPr>
          <a:lstStyle/>
          <a:p>
            <a:pPr>
              <a:spcAft>
                <a:spcPts val="400"/>
              </a:spcAft>
              <a:defRPr sz="1000" b="1">
                <a:solidFill>
                  <a:srgbClr val="6366F1"/>
                </a:solidFill>
              </a:defRPr>
            </a:pPr>
            <a:r>
              <a:t>1. Users: </a:t>
            </a:r>
            <a:r>
              <a:rPr b="1">
                <a:solidFill>
                  <a:srgbClr val="F59E0B"/>
                </a:solidFill>
              </a:rPr>
              <a:t>[user_id (PK)] </a:t>
            </a:r>
            <a:r>
              <a:rPr b="0">
                <a:solidFill>
                  <a:srgbClr val="94A3B8"/>
                </a:solidFill>
              </a:rPr>
              <a:t>name, email (UK), password_hash, role, created_at</a:t>
            </a:r>
          </a:p>
          <a:p>
            <a:pPr>
              <a:spcAft>
                <a:spcPts val="400"/>
              </a:spcAft>
              <a:defRPr sz="1000" b="1">
                <a:solidFill>
                  <a:srgbClr val="6366F1"/>
                </a:solidFill>
              </a:defRPr>
            </a:pPr>
            <a:r>
              <a:t>2. Genres: </a:t>
            </a:r>
            <a:r>
              <a:rPr b="1">
                <a:solidFill>
                  <a:srgbClr val="F59E0B"/>
                </a:solidFill>
              </a:rPr>
              <a:t>[genre_id (PK)] </a:t>
            </a:r>
            <a:r>
              <a:rPr b="0">
                <a:solidFill>
                  <a:srgbClr val="94A3B8"/>
                </a:solidFill>
              </a:rPr>
              <a:t>genre_name (UK), description</a:t>
            </a:r>
          </a:p>
          <a:p>
            <a:pPr>
              <a:spcAft>
                <a:spcPts val="400"/>
              </a:spcAft>
              <a:defRPr sz="1000" b="1">
                <a:solidFill>
                  <a:srgbClr val="6366F1"/>
                </a:solidFill>
              </a:defRPr>
            </a:pPr>
            <a:r>
              <a:t>3. Content: </a:t>
            </a:r>
            <a:r>
              <a:rPr b="1">
                <a:solidFill>
                  <a:srgbClr val="F59E0B"/>
                </a:solidFill>
              </a:rPr>
              <a:t>[content_id (PK)] </a:t>
            </a:r>
            <a:r>
              <a:rPr b="0">
                <a:solidFill>
                  <a:srgbClr val="94A3B8"/>
                </a:solidFill>
              </a:rPr>
              <a:t>title, content_type, genre_id (FK), release_year, duration</a:t>
            </a:r>
          </a:p>
          <a:p>
            <a:pPr>
              <a:spcAft>
                <a:spcPts val="400"/>
              </a:spcAft>
              <a:defRPr sz="1000" b="1">
                <a:solidFill>
                  <a:srgbClr val="6366F1"/>
                </a:solidFill>
              </a:defRPr>
            </a:pPr>
            <a:r>
              <a:t>4. SubscriptionPlans: </a:t>
            </a:r>
            <a:r>
              <a:rPr b="1">
                <a:solidFill>
                  <a:srgbClr val="F59E0B"/>
                </a:solidFill>
              </a:rPr>
              <a:t>[plan_id (PK)] </a:t>
            </a:r>
            <a:r>
              <a:rPr b="0">
                <a:solidFill>
                  <a:srgbClr val="94A3B8"/>
                </a:solidFill>
              </a:rPr>
              <a:t>plan_name (UK), price, duration_days, description</a:t>
            </a:r>
          </a:p>
          <a:p>
            <a:pPr>
              <a:spcAft>
                <a:spcPts val="400"/>
              </a:spcAft>
              <a:defRPr sz="1000" b="1">
                <a:solidFill>
                  <a:srgbClr val="6366F1"/>
                </a:solidFill>
              </a:defRPr>
            </a:pPr>
            <a:r>
              <a:t>5. Subscriptions: </a:t>
            </a:r>
            <a:r>
              <a:rPr b="1">
                <a:solidFill>
                  <a:srgbClr val="F59E0B"/>
                </a:solidFill>
              </a:rPr>
              <a:t>[subscription_id (PK)] </a:t>
            </a:r>
            <a:r>
              <a:rPr b="0">
                <a:solidFill>
                  <a:srgbClr val="94A3B8"/>
                </a:solidFill>
              </a:rPr>
              <a:t>user_id (FK), plan_id (FK), start_date, end_date, status</a:t>
            </a:r>
          </a:p>
          <a:p>
            <a:pPr>
              <a:spcAft>
                <a:spcPts val="400"/>
              </a:spcAft>
              <a:defRPr sz="1000" b="1">
                <a:solidFill>
                  <a:srgbClr val="6366F1"/>
                </a:solidFill>
              </a:defRPr>
            </a:pPr>
            <a:r>
              <a:t>6. WatchHistory: </a:t>
            </a:r>
            <a:r>
              <a:rPr b="1">
                <a:solidFill>
                  <a:srgbClr val="F59E0B"/>
                </a:solidFill>
              </a:rPr>
              <a:t>[history_id (PK)] </a:t>
            </a:r>
            <a:r>
              <a:rPr b="0">
                <a:solidFill>
                  <a:srgbClr val="94A3B8"/>
                </a:solidFill>
              </a:rPr>
              <a:t>user_id (FK), content_id (FK), watched_at, progress_minutes</a:t>
            </a:r>
          </a:p>
          <a:p>
            <a:pPr>
              <a:spcAft>
                <a:spcPts val="400"/>
              </a:spcAft>
              <a:defRPr sz="1000" b="1">
                <a:solidFill>
                  <a:srgbClr val="6366F1"/>
                </a:solidFill>
              </a:defRPr>
            </a:pPr>
            <a:r>
              <a:t>7. Ratings: </a:t>
            </a:r>
            <a:r>
              <a:rPr b="1">
                <a:solidFill>
                  <a:srgbClr val="F59E0B"/>
                </a:solidFill>
              </a:rPr>
              <a:t>[rating_id (PK)] </a:t>
            </a:r>
            <a:r>
              <a:rPr b="0">
                <a:solidFill>
                  <a:srgbClr val="94A3B8"/>
                </a:solidFill>
              </a:rPr>
              <a:t>user_id (FK), content_id (FK), rating, review, UK(user, content)</a:t>
            </a:r>
          </a:p>
        </p:txBody>
      </p:sp>
      <p:sp>
        <p:nvSpPr>
          <p:cNvPr id="10" name="Rounded Rectangle 9"/>
          <p:cNvSpPr/>
          <p:nvPr/>
        </p:nvSpPr>
        <p:spPr>
          <a:xfrm>
            <a:off x="6492240" y="1645920"/>
            <a:ext cx="4937760" cy="438912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1755648"/>
            <a:ext cx="4663440" cy="365760"/>
          </a:xfrm>
          <a:prstGeom prst="rect">
            <a:avLst/>
          </a:prstGeom>
          <a:noFill/>
        </p:spPr>
        <p:txBody>
          <a:bodyPr wrap="square">
            <a:spAutoFit/>
          </a:bodyPr>
          <a:lstStyle/>
          <a:p>
            <a:pPr>
              <a:defRPr sz="1200" b="1">
                <a:solidFill>
                  <a:srgbClr val="F8FAFC"/>
                </a:solidFill>
                <a:latin typeface="Segoe UI"/>
              </a:defRPr>
            </a:pPr>
            <a:r>
              <a:t>Relationship Cardinality Matrix</a:t>
            </a:r>
          </a:p>
        </p:txBody>
      </p:sp>
      <p:sp>
        <p:nvSpPr>
          <p:cNvPr id="12" name="TextBox 11"/>
          <p:cNvSpPr txBox="1"/>
          <p:nvPr/>
        </p:nvSpPr>
        <p:spPr>
          <a:xfrm>
            <a:off x="6629400" y="2148840"/>
            <a:ext cx="4663440" cy="3749039"/>
          </a:xfrm>
          <a:prstGeom prst="rect">
            <a:avLst/>
          </a:prstGeom>
          <a:noFill/>
        </p:spPr>
        <p:txBody>
          <a:bodyPr wrap="square">
            <a:spAutoFit/>
          </a:bodyPr>
          <a:lstStyle/>
          <a:p>
            <a:pPr>
              <a:spcAft>
                <a:spcPts val="600"/>
              </a:spcAft>
              <a:defRPr sz="1000" b="1">
                <a:solidFill>
                  <a:srgbClr val="06B6D4"/>
                </a:solidFill>
              </a:defRPr>
            </a:pPr>
            <a:r>
              <a:t>•  Users (1)  ──  (M) Subscriptions</a:t>
            </a:r>
            <a:br/>
            <a:r>
              <a:rPr b="0">
                <a:solidFill>
                  <a:srgbClr val="94A3B8"/>
                </a:solidFill>
              </a:rPr>
              <a:t>   One user purchases zero, one, or multiple subscription terms over time. Each subscription record belongs strictly to exactly one customer account.</a:t>
            </a:r>
          </a:p>
          <a:p>
            <a:pPr>
              <a:spcAft>
                <a:spcPts val="600"/>
              </a:spcAft>
              <a:defRPr sz="1000" b="1">
                <a:solidFill>
                  <a:srgbClr val="06B6D4"/>
                </a:solidFill>
              </a:defRPr>
            </a:pPr>
            <a:r>
              <a:t>•  SubscriptionPlans (1)  ──  (M) Subscriptions</a:t>
            </a:r>
            <a:br/>
            <a:r>
              <a:rPr b="0">
                <a:solidFill>
                  <a:srgbClr val="94A3B8"/>
                </a:solidFill>
              </a:rPr>
              <a:t>   A commercial tier (e.g. Standard HD) is subscribed to by many users. Each active subscription is governed by one pricing tier.</a:t>
            </a:r>
          </a:p>
          <a:p>
            <a:pPr>
              <a:spcAft>
                <a:spcPts val="600"/>
              </a:spcAft>
              <a:defRPr sz="1000" b="1">
                <a:solidFill>
                  <a:srgbClr val="06B6D4"/>
                </a:solidFill>
              </a:defRPr>
            </a:pPr>
            <a:r>
              <a:t>•  Genres (1)  ──  (M) Content</a:t>
            </a:r>
            <a:br/>
            <a:r>
              <a:rPr b="0">
                <a:solidFill>
                  <a:srgbClr val="94A3B8"/>
                </a:solidFill>
              </a:rPr>
              <a:t>   One genre category (e.g. Sci-Fi) classifies multiple movies and series. Each catalog item references a valid genre.</a:t>
            </a:r>
          </a:p>
          <a:p>
            <a:pPr>
              <a:spcAft>
                <a:spcPts val="600"/>
              </a:spcAft>
              <a:defRPr sz="1000" b="1">
                <a:solidFill>
                  <a:srgbClr val="06B6D4"/>
                </a:solidFill>
              </a:defRPr>
            </a:pPr>
            <a:r>
              <a:t>•  Users (M)  ──  (N) Content  [via WatchHistory]</a:t>
            </a:r>
            <a:br/>
            <a:r>
              <a:rPr b="0">
                <a:solidFill>
                  <a:srgbClr val="94A3B8"/>
                </a:solidFill>
              </a:rPr>
              <a:t>   Many-to-many relationship tracking viewing telemetry. Resolved by associative entity WatchHistory with progress minutes.</a:t>
            </a:r>
          </a:p>
          <a:p>
            <a:pPr>
              <a:spcAft>
                <a:spcPts val="600"/>
              </a:spcAft>
              <a:defRPr sz="1000" b="1">
                <a:solidFill>
                  <a:srgbClr val="06B6D4"/>
                </a:solidFill>
              </a:defRPr>
            </a:pPr>
            <a:r>
              <a:t>•  Users (M)  ──  (N) Content  [via Ratings]</a:t>
            </a:r>
            <a:br/>
            <a:r>
              <a:rPr b="0">
                <a:solidFill>
                  <a:srgbClr val="94A3B8"/>
                </a:solidFill>
              </a:rPr>
              <a:t>   Many-to-many relationship storing audience critiques. Governed by composite UNIQUE constraint (user_id, content_id).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840480" cy="320040"/>
          </a:xfrm>
          <a:prstGeom prst="roundRect">
            <a:avLst/>
          </a:prstGeom>
          <a:solidFill>
            <a:srgbClr val="1920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950" b="1">
                <a:solidFill>
                  <a:srgbClr val="6366F1"/>
                </a:solidFill>
                <a:latin typeface="Segoe UI"/>
              </a:defRPr>
            </a:pPr>
            <a:r>
              <a:t>5. RELATIONAL SCHEMA &amp; DESIGN</a:t>
            </a:r>
          </a:p>
        </p:txBody>
      </p:sp>
      <p:sp>
        <p:nvSpPr>
          <p:cNvPr id="4" name="TextBox 3"/>
          <p:cNvSpPr txBox="1"/>
          <p:nvPr/>
        </p:nvSpPr>
        <p:spPr>
          <a:xfrm>
            <a:off x="731520" y="777240"/>
            <a:ext cx="10698480" cy="640080"/>
          </a:xfrm>
          <a:prstGeom prst="rect">
            <a:avLst/>
          </a:prstGeom>
          <a:noFill/>
        </p:spPr>
        <p:txBody>
          <a:bodyPr wrap="square">
            <a:spAutoFit/>
          </a:bodyPr>
          <a:lstStyle/>
          <a:p>
            <a:pPr>
              <a:defRPr sz="2200" b="1">
                <a:solidFill>
                  <a:srgbClr val="F8FAFC"/>
                </a:solidFill>
                <a:latin typeface="Segoe UI"/>
              </a:defRPr>
            </a:pPr>
            <a:r>
              <a:t>Relational Schema &amp; Referential Deletion Rules</a:t>
            </a:r>
          </a:p>
          <a:p>
            <a:pPr>
              <a:defRPr sz="1100" i="1">
                <a:solidFill>
                  <a:srgbClr val="94A3B8"/>
                </a:solidFill>
                <a:latin typeface="Segoe UI"/>
              </a:defRPr>
            </a:pPr>
            <a:r>
              <a:t>Data types, integrity constraints, and academic justification for deletion behaviors</a:t>
            </a:r>
          </a:p>
        </p:txBody>
      </p:sp>
      <p:sp>
        <p:nvSpPr>
          <p:cNvPr id="5" name="TextBox 4"/>
          <p:cNvSpPr txBox="1"/>
          <p:nvPr/>
        </p:nvSpPr>
        <p:spPr>
          <a:xfrm>
            <a:off x="731520" y="6400800"/>
            <a:ext cx="10698480" cy="365760"/>
          </a:xfrm>
          <a:prstGeom prst="rect">
            <a:avLst/>
          </a:prstGeom>
          <a:noFill/>
        </p:spPr>
        <p:txBody>
          <a:bodyPr wrap="none">
            <a:spAutoFit/>
          </a:bodyPr>
          <a:lstStyle/>
          <a:p>
            <a:pPr>
              <a:defRPr sz="850">
                <a:solidFill>
                  <a:srgbClr val="64748B"/>
                </a:solidFill>
                <a:latin typeface="Segoe UI"/>
              </a:defRPr>
            </a:pPr>
            <a:r>
              <a:t>StreamSphere — OTT Platform Management System  |  DBMS Laboratory Mini-Project</a:t>
            </a:r>
          </a:p>
        </p:txBody>
      </p:sp>
      <p:sp>
        <p:nvSpPr>
          <p:cNvPr id="6" name="TextBox 5"/>
          <p:cNvSpPr txBox="1"/>
          <p:nvPr/>
        </p:nvSpPr>
        <p:spPr>
          <a:xfrm>
            <a:off x="10515600" y="6400800"/>
            <a:ext cx="914400" cy="365760"/>
          </a:xfrm>
          <a:prstGeom prst="rect">
            <a:avLst/>
          </a:prstGeom>
          <a:noFill/>
        </p:spPr>
        <p:txBody>
          <a:bodyPr wrap="none">
            <a:spAutoFit/>
          </a:bodyPr>
          <a:lstStyle/>
          <a:p>
            <a:pPr algn="r">
              <a:defRPr sz="850" b="1">
                <a:solidFill>
                  <a:srgbClr val="6366F1"/>
                </a:solidFill>
                <a:latin typeface="Segoe UI"/>
              </a:defRPr>
            </a:pPr>
            <a:r>
              <a:t>6 / 12</a:t>
            </a:r>
          </a:p>
        </p:txBody>
      </p:sp>
      <p:sp>
        <p:nvSpPr>
          <p:cNvPr id="7" name="Rounded Rectangle 6"/>
          <p:cNvSpPr/>
          <p:nvPr/>
        </p:nvSpPr>
        <p:spPr>
          <a:xfrm>
            <a:off x="731520" y="1645920"/>
            <a:ext cx="5486400" cy="438912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55648"/>
            <a:ext cx="5212080" cy="365760"/>
          </a:xfrm>
          <a:prstGeom prst="rect">
            <a:avLst/>
          </a:prstGeom>
          <a:noFill/>
        </p:spPr>
        <p:txBody>
          <a:bodyPr wrap="square">
            <a:spAutoFit/>
          </a:bodyPr>
          <a:lstStyle/>
          <a:p>
            <a:pPr>
              <a:defRPr sz="1200" b="1">
                <a:solidFill>
                  <a:srgbClr val="F8FAFC"/>
                </a:solidFill>
                <a:latin typeface="Segoe UI"/>
              </a:defRPr>
            </a:pPr>
            <a:r>
              <a:t>Relational Integrity &amp; Check Constraints</a:t>
            </a:r>
          </a:p>
        </p:txBody>
      </p:sp>
      <p:sp>
        <p:nvSpPr>
          <p:cNvPr id="9" name="TextBox 8"/>
          <p:cNvSpPr txBox="1"/>
          <p:nvPr/>
        </p:nvSpPr>
        <p:spPr>
          <a:xfrm>
            <a:off x="868680" y="2148840"/>
            <a:ext cx="5212080" cy="3749039"/>
          </a:xfrm>
          <a:prstGeom prst="rect">
            <a:avLst/>
          </a:prstGeom>
          <a:noFill/>
        </p:spPr>
        <p:txBody>
          <a:bodyPr wrap="square">
            <a:spAutoFit/>
          </a:bodyPr>
          <a:lstStyle/>
          <a:p>
            <a:pPr>
              <a:spcAft>
                <a:spcPts val="1000"/>
              </a:spcAft>
              <a:defRPr sz="1000" b="1">
                <a:solidFill>
                  <a:srgbClr val="6366F1"/>
                </a:solidFill>
              </a:defRPr>
            </a:pPr>
            <a:r>
              <a:t>1. PRIMARY KEY &amp; UNIQUE CONSTRAINTS:</a:t>
            </a:r>
            <a:br/>
            <a:r>
              <a:rPr b="0">
                <a:solidFill>
                  <a:srgbClr val="94A3B8"/>
                </a:solidFill>
              </a:rPr>
              <a:t>Surrogate integer PKs across all 7 tables. Unique business keys prevent duplicate email accounts, duplicate plan names, and multiple reviews per user-title pair.</a:t>
            </a:r>
          </a:p>
          <a:p>
            <a:pPr>
              <a:defRPr sz="1000" b="1">
                <a:solidFill>
                  <a:srgbClr val="8B5CF6"/>
                </a:solidFill>
              </a:defRPr>
            </a:pPr>
            <a:r>
              <a:t>2. CHECK CONSTRAINTS ENFORCED:</a:t>
            </a:r>
            <a:br/>
            <a:r>
              <a:rPr b="0">
                <a:solidFill>
                  <a:srgbClr val="94A3B8"/>
                </a:solidFill>
              </a:rPr>
              <a:t>• Content: release_year BETWEEN 1900 AND 2100
• Plans: price &gt;= 0.00 and duration_days &gt; 0
• Subscriptions: amount_paid &gt;= 0.00 and end_date &gt;= start_date
• Ratings: rating BETWEEN 1.0 AND 5.0</a:t>
            </a:r>
          </a:p>
        </p:txBody>
      </p:sp>
      <p:sp>
        <p:nvSpPr>
          <p:cNvPr id="10" name="Rounded Rectangle 9"/>
          <p:cNvSpPr/>
          <p:nvPr/>
        </p:nvSpPr>
        <p:spPr>
          <a:xfrm>
            <a:off x="6492240" y="1645920"/>
            <a:ext cx="4937760" cy="438912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1755648"/>
            <a:ext cx="4663440" cy="365760"/>
          </a:xfrm>
          <a:prstGeom prst="rect">
            <a:avLst/>
          </a:prstGeom>
          <a:noFill/>
        </p:spPr>
        <p:txBody>
          <a:bodyPr wrap="square">
            <a:spAutoFit/>
          </a:bodyPr>
          <a:lstStyle/>
          <a:p>
            <a:pPr>
              <a:defRPr sz="1200" b="1">
                <a:solidFill>
                  <a:srgbClr val="F8FAFC"/>
                </a:solidFill>
                <a:latin typeface="Segoe UI"/>
              </a:defRPr>
            </a:pPr>
            <a:r>
              <a:t>Referential Integrity &amp; Deletion Actions</a:t>
            </a:r>
          </a:p>
        </p:txBody>
      </p:sp>
      <p:sp>
        <p:nvSpPr>
          <p:cNvPr id="12" name="TextBox 11"/>
          <p:cNvSpPr txBox="1"/>
          <p:nvPr/>
        </p:nvSpPr>
        <p:spPr>
          <a:xfrm>
            <a:off x="6629400" y="2148840"/>
            <a:ext cx="4663440" cy="3749039"/>
          </a:xfrm>
          <a:prstGeom prst="rect">
            <a:avLst/>
          </a:prstGeom>
          <a:noFill/>
        </p:spPr>
        <p:txBody>
          <a:bodyPr wrap="square">
            <a:spAutoFit/>
          </a:bodyPr>
          <a:lstStyle/>
          <a:p>
            <a:pPr>
              <a:spcAft>
                <a:spcPts val="1200"/>
              </a:spcAft>
              <a:defRPr sz="1050" b="1">
                <a:solidFill>
                  <a:srgbClr val="F59E0B"/>
                </a:solidFill>
              </a:defRPr>
            </a:pPr>
            <a:r>
              <a:t>1. ON DELETE RESTRICT (Data Protection Rules):</a:t>
            </a:r>
            <a:br/>
            <a:r>
              <a:rPr b="0">
                <a:solidFill>
                  <a:srgbClr val="94A3B8"/>
                </a:solidFill>
              </a:rPr>
              <a:t>• Genres -&gt; Content: Prevents deleting a genre if active movies or series reference it. Protects catalog structure.
• SubscriptionPlans -&gt; Subscriptions: Prohibits deleting commercial pricing tiers that are referenced by active or historical subscription contracts.</a:t>
            </a:r>
          </a:p>
          <a:p>
            <a:pPr>
              <a:defRPr sz="1050" b="1">
                <a:solidFill>
                  <a:srgbClr val="10B981"/>
                </a:solidFill>
              </a:defRPr>
            </a:pPr>
            <a:r>
              <a:t>2. ON DELETE CASCADE (Account Purge Rules):</a:t>
            </a:r>
            <a:br/>
            <a:r>
              <a:rPr b="0">
                <a:solidFill>
                  <a:srgbClr val="94A3B8"/>
                </a:solidFill>
              </a:rPr>
              <a:t>• Users -&gt; Subscriptions, WatchHistory, Ratings: When an account is removed, personal telemetry and billing transactions are purged to prevent orphaned references.
• Content -&gt; WatchHistory, Ratings: Purging a movie removes its associated telemetry logs and reviews automatically.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840480" cy="320040"/>
          </a:xfrm>
          <a:prstGeom prst="roundRect">
            <a:avLst/>
          </a:prstGeom>
          <a:solidFill>
            <a:srgbClr val="1920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950" b="1">
                <a:solidFill>
                  <a:srgbClr val="6366F1"/>
                </a:solidFill>
                <a:latin typeface="Segoe UI"/>
              </a:defRPr>
            </a:pPr>
            <a:r>
              <a:t>6. DATABASE NORMALIZATION</a:t>
            </a:r>
          </a:p>
        </p:txBody>
      </p:sp>
      <p:sp>
        <p:nvSpPr>
          <p:cNvPr id="4" name="TextBox 3"/>
          <p:cNvSpPr txBox="1"/>
          <p:nvPr/>
        </p:nvSpPr>
        <p:spPr>
          <a:xfrm>
            <a:off x="731520" y="777240"/>
            <a:ext cx="10698480" cy="640080"/>
          </a:xfrm>
          <a:prstGeom prst="rect">
            <a:avLst/>
          </a:prstGeom>
          <a:noFill/>
        </p:spPr>
        <p:txBody>
          <a:bodyPr wrap="square">
            <a:spAutoFit/>
          </a:bodyPr>
          <a:lstStyle/>
          <a:p>
            <a:pPr>
              <a:defRPr sz="2200" b="1">
                <a:solidFill>
                  <a:srgbClr val="F8FAFC"/>
                </a:solidFill>
                <a:latin typeface="Segoe UI"/>
              </a:defRPr>
            </a:pPr>
            <a:r>
              <a:t>Normalization Analysis &amp; Anomaly Resolution</a:t>
            </a:r>
          </a:p>
          <a:p>
            <a:pPr>
              <a:defRPr sz="1100" i="1">
                <a:solidFill>
                  <a:srgbClr val="94A3B8"/>
                </a:solidFill>
                <a:latin typeface="Segoe UI"/>
              </a:defRPr>
            </a:pPr>
            <a:r>
              <a:t>Formal proof of schema decomposition from Unnormalized Form (UNF) through 3NF and BCNF</a:t>
            </a:r>
          </a:p>
        </p:txBody>
      </p:sp>
      <p:sp>
        <p:nvSpPr>
          <p:cNvPr id="5" name="TextBox 4"/>
          <p:cNvSpPr txBox="1"/>
          <p:nvPr/>
        </p:nvSpPr>
        <p:spPr>
          <a:xfrm>
            <a:off x="731520" y="6400800"/>
            <a:ext cx="10698480" cy="365760"/>
          </a:xfrm>
          <a:prstGeom prst="rect">
            <a:avLst/>
          </a:prstGeom>
          <a:noFill/>
        </p:spPr>
        <p:txBody>
          <a:bodyPr wrap="none">
            <a:spAutoFit/>
          </a:bodyPr>
          <a:lstStyle/>
          <a:p>
            <a:pPr>
              <a:defRPr sz="850">
                <a:solidFill>
                  <a:srgbClr val="64748B"/>
                </a:solidFill>
                <a:latin typeface="Segoe UI"/>
              </a:defRPr>
            </a:pPr>
            <a:r>
              <a:t>StreamSphere — OTT Platform Management System  |  DBMS Laboratory Mini-Project</a:t>
            </a:r>
          </a:p>
        </p:txBody>
      </p:sp>
      <p:sp>
        <p:nvSpPr>
          <p:cNvPr id="6" name="TextBox 5"/>
          <p:cNvSpPr txBox="1"/>
          <p:nvPr/>
        </p:nvSpPr>
        <p:spPr>
          <a:xfrm>
            <a:off x="10515600" y="6400800"/>
            <a:ext cx="914400" cy="365760"/>
          </a:xfrm>
          <a:prstGeom prst="rect">
            <a:avLst/>
          </a:prstGeom>
          <a:noFill/>
        </p:spPr>
        <p:txBody>
          <a:bodyPr wrap="none">
            <a:spAutoFit/>
          </a:bodyPr>
          <a:lstStyle/>
          <a:p>
            <a:pPr algn="r">
              <a:defRPr sz="850" b="1">
                <a:solidFill>
                  <a:srgbClr val="6366F1"/>
                </a:solidFill>
                <a:latin typeface="Segoe UI"/>
              </a:defRPr>
            </a:pPr>
            <a:r>
              <a:t>7 / 12</a:t>
            </a:r>
          </a:p>
        </p:txBody>
      </p:sp>
      <p:sp>
        <p:nvSpPr>
          <p:cNvPr id="7" name="Rounded Rectangle 6"/>
          <p:cNvSpPr/>
          <p:nvPr/>
        </p:nvSpPr>
        <p:spPr>
          <a:xfrm>
            <a:off x="731520" y="1645920"/>
            <a:ext cx="5166360" cy="205740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55648"/>
            <a:ext cx="4892040" cy="365760"/>
          </a:xfrm>
          <a:prstGeom prst="rect">
            <a:avLst/>
          </a:prstGeom>
          <a:noFill/>
        </p:spPr>
        <p:txBody>
          <a:bodyPr wrap="square">
            <a:spAutoFit/>
          </a:bodyPr>
          <a:lstStyle/>
          <a:p>
            <a:pPr>
              <a:defRPr sz="1200" b="1">
                <a:solidFill>
                  <a:srgbClr val="F8FAFC"/>
                </a:solidFill>
                <a:latin typeface="Segoe UI"/>
              </a:defRPr>
            </a:pPr>
            <a:r>
              <a:t>First Normal Form (1NF)</a:t>
            </a:r>
          </a:p>
        </p:txBody>
      </p:sp>
      <p:sp>
        <p:nvSpPr>
          <p:cNvPr id="9" name="TextBox 8"/>
          <p:cNvSpPr txBox="1"/>
          <p:nvPr/>
        </p:nvSpPr>
        <p:spPr>
          <a:xfrm>
            <a:off x="868680" y="2057400"/>
            <a:ext cx="4892040" cy="1554480"/>
          </a:xfrm>
          <a:prstGeom prst="rect">
            <a:avLst/>
          </a:prstGeom>
          <a:noFill/>
        </p:spPr>
        <p:txBody>
          <a:bodyPr wrap="square">
            <a:spAutoFit/>
          </a:bodyPr>
          <a:lstStyle/>
          <a:p>
            <a:pPr>
              <a:defRPr sz="950" b="1">
                <a:solidFill>
                  <a:srgbClr val="6366F1"/>
                </a:solidFill>
              </a:defRPr>
            </a:pPr>
            <a:r>
              <a:t>Requirement: Atomic attribute values; eliminate repeating groups.</a:t>
            </a:r>
            <a:br/>
            <a:r>
              <a:rPr b="0">
                <a:solidFill>
                  <a:srgbClr val="94A3B8"/>
                </a:solidFill>
              </a:rPr>
              <a:t>• Flat relation had repeating multi-valued fields for watched titles and purchased subscriptions.
• Decomposed into distinct entities (WatchHistory, Subscriptions). Every column has atomic scalar domain types.</a:t>
            </a:r>
          </a:p>
        </p:txBody>
      </p:sp>
      <p:sp>
        <p:nvSpPr>
          <p:cNvPr id="10" name="Rounded Rectangle 9"/>
          <p:cNvSpPr/>
          <p:nvPr/>
        </p:nvSpPr>
        <p:spPr>
          <a:xfrm>
            <a:off x="6263640" y="1645920"/>
            <a:ext cx="5166360" cy="205740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55648"/>
            <a:ext cx="4892040" cy="365760"/>
          </a:xfrm>
          <a:prstGeom prst="rect">
            <a:avLst/>
          </a:prstGeom>
          <a:noFill/>
        </p:spPr>
        <p:txBody>
          <a:bodyPr wrap="square">
            <a:spAutoFit/>
          </a:bodyPr>
          <a:lstStyle/>
          <a:p>
            <a:pPr>
              <a:defRPr sz="1200" b="1">
                <a:solidFill>
                  <a:srgbClr val="F8FAFC"/>
                </a:solidFill>
                <a:latin typeface="Segoe UI"/>
              </a:defRPr>
            </a:pPr>
            <a:r>
              <a:t>Second Normal Form (2NF)</a:t>
            </a:r>
          </a:p>
        </p:txBody>
      </p:sp>
      <p:sp>
        <p:nvSpPr>
          <p:cNvPr id="12" name="TextBox 11"/>
          <p:cNvSpPr txBox="1"/>
          <p:nvPr/>
        </p:nvSpPr>
        <p:spPr>
          <a:xfrm>
            <a:off x="6400800" y="2057400"/>
            <a:ext cx="4892040" cy="1554480"/>
          </a:xfrm>
          <a:prstGeom prst="rect">
            <a:avLst/>
          </a:prstGeom>
          <a:noFill/>
        </p:spPr>
        <p:txBody>
          <a:bodyPr wrap="square">
            <a:spAutoFit/>
          </a:bodyPr>
          <a:lstStyle/>
          <a:p>
            <a:pPr>
              <a:defRPr sz="950" b="1">
                <a:solidFill>
                  <a:srgbClr val="8B5CF6"/>
                </a:solidFill>
              </a:defRPr>
            </a:pPr>
            <a:r>
              <a:t>Requirement: In 1NF and no partial dependencies on candidate keys.</a:t>
            </a:r>
            <a:br/>
            <a:r>
              <a:rPr b="0">
                <a:solidFill>
                  <a:srgbClr val="94A3B8"/>
                </a:solidFill>
              </a:rPr>
              <a:t>• All primary keys are single-attribute surrogate keys (user_id, content_id), making partial key dependency mathematically impossible.
• In Ratings with alternate key (user_id, content_id), rating and review depend fully on the complete key.</a:t>
            </a:r>
          </a:p>
        </p:txBody>
      </p:sp>
      <p:sp>
        <p:nvSpPr>
          <p:cNvPr id="13" name="Rounded Rectangle 12"/>
          <p:cNvSpPr/>
          <p:nvPr/>
        </p:nvSpPr>
        <p:spPr>
          <a:xfrm>
            <a:off x="731520" y="3931920"/>
            <a:ext cx="5166360" cy="205740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41648"/>
            <a:ext cx="4892040" cy="365760"/>
          </a:xfrm>
          <a:prstGeom prst="rect">
            <a:avLst/>
          </a:prstGeom>
          <a:noFill/>
        </p:spPr>
        <p:txBody>
          <a:bodyPr wrap="square">
            <a:spAutoFit/>
          </a:bodyPr>
          <a:lstStyle/>
          <a:p>
            <a:pPr>
              <a:defRPr sz="1200" b="1">
                <a:solidFill>
                  <a:srgbClr val="F8FAFC"/>
                </a:solidFill>
                <a:latin typeface="Segoe UI"/>
              </a:defRPr>
            </a:pPr>
            <a:r>
              <a:t>Third Normal Form (3NF)</a:t>
            </a:r>
          </a:p>
        </p:txBody>
      </p:sp>
      <p:sp>
        <p:nvSpPr>
          <p:cNvPr id="15" name="TextBox 14"/>
          <p:cNvSpPr txBox="1"/>
          <p:nvPr/>
        </p:nvSpPr>
        <p:spPr>
          <a:xfrm>
            <a:off x="868680" y="4343400"/>
            <a:ext cx="4892040" cy="1554480"/>
          </a:xfrm>
          <a:prstGeom prst="rect">
            <a:avLst/>
          </a:prstGeom>
          <a:noFill/>
        </p:spPr>
        <p:txBody>
          <a:bodyPr wrap="square">
            <a:spAutoFit/>
          </a:bodyPr>
          <a:lstStyle/>
          <a:p>
            <a:pPr>
              <a:defRPr sz="950" b="1">
                <a:solidFill>
                  <a:srgbClr val="06B6D4"/>
                </a:solidFill>
              </a:defRPr>
            </a:pPr>
            <a:r>
              <a:t>Requirement: In 2NF and no transitive functional dependencies.</a:t>
            </a:r>
            <a:br/>
            <a:r>
              <a:rPr b="0">
                <a:solidFill>
                  <a:srgbClr val="94A3B8"/>
                </a:solidFill>
              </a:rPr>
              <a:t>• Transitive dependency content_id -&gt; genre_id -&gt; genre_name eliminated by decomposing into Genres.
• subscription_id -&gt; plan_id -&gt; (price, duration) eliminated by isolating SubscriptionPlans. No non-prime attribute determines another non-prime attribute.</a:t>
            </a:r>
          </a:p>
        </p:txBody>
      </p:sp>
      <p:sp>
        <p:nvSpPr>
          <p:cNvPr id="16" name="Rounded Rectangle 15"/>
          <p:cNvSpPr/>
          <p:nvPr/>
        </p:nvSpPr>
        <p:spPr>
          <a:xfrm>
            <a:off x="6263640" y="3931920"/>
            <a:ext cx="5166360" cy="205740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041648"/>
            <a:ext cx="4892040" cy="365760"/>
          </a:xfrm>
          <a:prstGeom prst="rect">
            <a:avLst/>
          </a:prstGeom>
          <a:noFill/>
        </p:spPr>
        <p:txBody>
          <a:bodyPr wrap="square">
            <a:spAutoFit/>
          </a:bodyPr>
          <a:lstStyle/>
          <a:p>
            <a:pPr>
              <a:defRPr sz="1200" b="1">
                <a:solidFill>
                  <a:srgbClr val="F8FAFC"/>
                </a:solidFill>
                <a:latin typeface="Segoe UI"/>
              </a:defRPr>
            </a:pPr>
            <a:r>
              <a:t>Boyce-Codd Normal Form (BCNF)</a:t>
            </a:r>
          </a:p>
        </p:txBody>
      </p:sp>
      <p:sp>
        <p:nvSpPr>
          <p:cNvPr id="18" name="TextBox 17"/>
          <p:cNvSpPr txBox="1"/>
          <p:nvPr/>
        </p:nvSpPr>
        <p:spPr>
          <a:xfrm>
            <a:off x="6400800" y="4343400"/>
            <a:ext cx="4892040" cy="1554480"/>
          </a:xfrm>
          <a:prstGeom prst="rect">
            <a:avLst/>
          </a:prstGeom>
          <a:noFill/>
        </p:spPr>
        <p:txBody>
          <a:bodyPr wrap="square">
            <a:spAutoFit/>
          </a:bodyPr>
          <a:lstStyle/>
          <a:p>
            <a:pPr>
              <a:defRPr sz="950" b="1">
                <a:solidFill>
                  <a:srgbClr val="10B981"/>
                </a:solidFill>
              </a:defRPr>
            </a:pPr>
            <a:r>
              <a:t>Requirement: For every functional dependency X -&gt; Y, X is a superkey.</a:t>
            </a:r>
            <a:br/>
            <a:r>
              <a:rPr b="0">
                <a:solidFill>
                  <a:srgbClr val="94A3B8"/>
                </a:solidFill>
              </a:rPr>
              <a:t>• Users: user_id and email are candidate keys.
• Genres: genre_id and genre_name are candidate keys.
• Plans: plan_id and plan_name are candidate keys.
• Ratings: rating_id and (user_id, content_id) are candidate keys. Schema achieves BCNF.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840480" cy="320040"/>
          </a:xfrm>
          <a:prstGeom prst="roundRect">
            <a:avLst/>
          </a:prstGeom>
          <a:solidFill>
            <a:srgbClr val="1920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950" b="1">
                <a:solidFill>
                  <a:srgbClr val="6366F1"/>
                </a:solidFill>
                <a:latin typeface="Segoe UI"/>
              </a:defRPr>
            </a:pPr>
            <a:r>
              <a:t>7. SQL IMPLEMENTATION</a:t>
            </a:r>
          </a:p>
        </p:txBody>
      </p:sp>
      <p:sp>
        <p:nvSpPr>
          <p:cNvPr id="4" name="TextBox 3"/>
          <p:cNvSpPr txBox="1"/>
          <p:nvPr/>
        </p:nvSpPr>
        <p:spPr>
          <a:xfrm>
            <a:off x="731520" y="777240"/>
            <a:ext cx="10698480" cy="640080"/>
          </a:xfrm>
          <a:prstGeom prst="rect">
            <a:avLst/>
          </a:prstGeom>
          <a:noFill/>
        </p:spPr>
        <p:txBody>
          <a:bodyPr wrap="square">
            <a:spAutoFit/>
          </a:bodyPr>
          <a:lstStyle/>
          <a:p>
            <a:pPr>
              <a:defRPr sz="2200" b="1">
                <a:solidFill>
                  <a:srgbClr val="F8FAFC"/>
                </a:solidFill>
                <a:latin typeface="Segoe UI"/>
              </a:defRPr>
            </a:pPr>
            <a:r>
              <a:t>Complex SQL Queries, JOINs &amp; Aggregate Reports</a:t>
            </a:r>
          </a:p>
          <a:p>
            <a:pPr>
              <a:defRPr sz="1100" i="1">
                <a:solidFill>
                  <a:srgbClr val="94A3B8"/>
                </a:solidFill>
                <a:latin typeface="Segoe UI"/>
              </a:defRPr>
            </a:pPr>
            <a:r>
              <a:t>Actual parameterized queries executed live against MySQL 8.0 streamsphere_db</a:t>
            </a:r>
          </a:p>
        </p:txBody>
      </p:sp>
      <p:sp>
        <p:nvSpPr>
          <p:cNvPr id="5" name="TextBox 4"/>
          <p:cNvSpPr txBox="1"/>
          <p:nvPr/>
        </p:nvSpPr>
        <p:spPr>
          <a:xfrm>
            <a:off x="731520" y="6400800"/>
            <a:ext cx="10698480" cy="365760"/>
          </a:xfrm>
          <a:prstGeom prst="rect">
            <a:avLst/>
          </a:prstGeom>
          <a:noFill/>
        </p:spPr>
        <p:txBody>
          <a:bodyPr wrap="none">
            <a:spAutoFit/>
          </a:bodyPr>
          <a:lstStyle/>
          <a:p>
            <a:pPr>
              <a:defRPr sz="850">
                <a:solidFill>
                  <a:srgbClr val="64748B"/>
                </a:solidFill>
                <a:latin typeface="Segoe UI"/>
              </a:defRPr>
            </a:pPr>
            <a:r>
              <a:t>StreamSphere — OTT Platform Management System  |  DBMS Laboratory Mini-Project</a:t>
            </a:r>
          </a:p>
        </p:txBody>
      </p:sp>
      <p:sp>
        <p:nvSpPr>
          <p:cNvPr id="6" name="TextBox 5"/>
          <p:cNvSpPr txBox="1"/>
          <p:nvPr/>
        </p:nvSpPr>
        <p:spPr>
          <a:xfrm>
            <a:off x="10515600" y="6400800"/>
            <a:ext cx="914400" cy="365760"/>
          </a:xfrm>
          <a:prstGeom prst="rect">
            <a:avLst/>
          </a:prstGeom>
          <a:noFill/>
        </p:spPr>
        <p:txBody>
          <a:bodyPr wrap="none">
            <a:spAutoFit/>
          </a:bodyPr>
          <a:lstStyle/>
          <a:p>
            <a:pPr algn="r">
              <a:defRPr sz="850" b="1">
                <a:solidFill>
                  <a:srgbClr val="6366F1"/>
                </a:solidFill>
                <a:latin typeface="Segoe UI"/>
              </a:defRPr>
            </a:pPr>
            <a:r>
              <a:t>8 / 12</a:t>
            </a:r>
          </a:p>
        </p:txBody>
      </p:sp>
      <p:sp>
        <p:nvSpPr>
          <p:cNvPr id="7" name="Rounded Rectangle 6"/>
          <p:cNvSpPr/>
          <p:nvPr/>
        </p:nvSpPr>
        <p:spPr>
          <a:xfrm>
            <a:off x="731520" y="1645920"/>
            <a:ext cx="5212080" cy="438912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55648"/>
            <a:ext cx="4937760" cy="365760"/>
          </a:xfrm>
          <a:prstGeom prst="rect">
            <a:avLst/>
          </a:prstGeom>
          <a:noFill/>
        </p:spPr>
        <p:txBody>
          <a:bodyPr wrap="square">
            <a:spAutoFit/>
          </a:bodyPr>
          <a:lstStyle/>
          <a:p>
            <a:pPr>
              <a:defRPr sz="1200" b="1">
                <a:solidFill>
                  <a:srgbClr val="F8FAFC"/>
                </a:solidFill>
                <a:latin typeface="Segoe UI"/>
              </a:defRPr>
            </a:pPr>
            <a:r>
              <a:t>1. Content by Genre (JOIN &amp; Conditional SUM)</a:t>
            </a:r>
          </a:p>
        </p:txBody>
      </p:sp>
      <p:sp>
        <p:nvSpPr>
          <p:cNvPr id="9" name="TextBox 8"/>
          <p:cNvSpPr txBox="1"/>
          <p:nvPr/>
        </p:nvSpPr>
        <p:spPr>
          <a:xfrm>
            <a:off x="868680" y="2103120"/>
            <a:ext cx="4937760" cy="2103120"/>
          </a:xfrm>
          <a:prstGeom prst="rect">
            <a:avLst/>
          </a:prstGeom>
          <a:noFill/>
        </p:spPr>
        <p:txBody>
          <a:bodyPr wrap="square">
            <a:spAutoFit/>
          </a:bodyPr>
          <a:lstStyle/>
          <a:p>
            <a:pPr>
              <a:defRPr sz="950" b="1">
                <a:solidFill>
                  <a:srgbClr val="6366F1"/>
                </a:solidFill>
              </a:defRPr>
            </a:pPr>
            <a:r>
              <a:t>SQL Query Statement:</a:t>
            </a:r>
          </a:p>
        </p:txBody>
      </p:sp>
      <p:sp>
        <p:nvSpPr>
          <p:cNvPr id="10" name="Rectangle 9"/>
          <p:cNvSpPr/>
          <p:nvPr/>
        </p:nvSpPr>
        <p:spPr>
          <a:xfrm>
            <a:off x="868680" y="2377440"/>
            <a:ext cx="4937760" cy="1828800"/>
          </a:xfrm>
          <a:prstGeom prst="rect">
            <a:avLst/>
          </a:prstGeom>
          <a:solidFill>
            <a:srgbClr val="080A14"/>
          </a:solidFill>
          <a:ln>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a:solidFill>
                  <a:srgbClr val="A5B4FC"/>
                </a:solidFill>
                <a:latin typeface="Consolas"/>
              </a:defRPr>
            </a:pPr>
            <a:r>
              <a:t>SELECT g.genre_id, g.genre_name,</a:t>
            </a:r>
            <a:br/>
            <a:r>
              <a:t>  COUNT(c.content_id) AS total_titles,</a:t>
            </a:r>
            <a:br/>
            <a:r>
              <a:t>  SUM(CASE WHEN c.content_type = 'Movie'</a:t>
            </a:r>
            <a:br/>
            <a:r>
              <a:t>      THEN 1 ELSE 0 END) AS movie_count,</a:t>
            </a:r>
            <a:br/>
            <a:r>
              <a:t>  SUM(CASE WHEN c.content_type = 'Series'</a:t>
            </a:r>
            <a:br/>
            <a:r>
              <a:t>      THEN 1 ELSE 0 END) AS series_count</a:t>
            </a:r>
            <a:br/>
            <a:r>
              <a:t>FROM Genres g</a:t>
            </a:r>
            <a:br/>
            <a:r>
              <a:t>LEFT JOIN Content c ON g.genre_id = c.genre_id</a:t>
            </a:r>
            <a:br/>
            <a:r>
              <a:t>GROUP BY g.genre_id, g.genre_name</a:t>
            </a:r>
            <a:br/>
            <a:r>
              <a:t>ORDER BY total_titles DESC;</a:t>
            </a:r>
          </a:p>
        </p:txBody>
      </p:sp>
      <p:sp>
        <p:nvSpPr>
          <p:cNvPr id="11" name="TextBox 10"/>
          <p:cNvSpPr txBox="1"/>
          <p:nvPr/>
        </p:nvSpPr>
        <p:spPr>
          <a:xfrm>
            <a:off x="868680" y="4297680"/>
            <a:ext cx="4937760" cy="1554480"/>
          </a:xfrm>
          <a:prstGeom prst="rect">
            <a:avLst/>
          </a:prstGeom>
          <a:noFill/>
        </p:spPr>
        <p:txBody>
          <a:bodyPr wrap="square">
            <a:spAutoFit/>
          </a:bodyPr>
          <a:lstStyle/>
          <a:p>
            <a:pPr>
              <a:defRPr sz="950" b="1">
                <a:solidFill>
                  <a:srgbClr val="F59E0B"/>
                </a:solidFill>
              </a:defRPr>
            </a:pPr>
            <a:r>
              <a:t>DBMS Viva Explanation:</a:t>
            </a:r>
            <a:br/>
            <a:r>
              <a:rPr b="0">
                <a:solidFill>
                  <a:srgbClr val="94A3B8"/>
                </a:solidFill>
              </a:rPr>
              <a:t>Uses LEFT JOIN so genres with 0 titles are preserved. Combines COUNT with conditional SUM(CASE) to simultaneously calculate total assets, movies, and series in a single table pass.</a:t>
            </a:r>
          </a:p>
        </p:txBody>
      </p:sp>
      <p:sp>
        <p:nvSpPr>
          <p:cNvPr id="12" name="Rounded Rectangle 11"/>
          <p:cNvSpPr/>
          <p:nvPr/>
        </p:nvSpPr>
        <p:spPr>
          <a:xfrm>
            <a:off x="6217920" y="1645920"/>
            <a:ext cx="5212080" cy="438912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755648"/>
            <a:ext cx="4937760" cy="365760"/>
          </a:xfrm>
          <a:prstGeom prst="rect">
            <a:avLst/>
          </a:prstGeom>
          <a:noFill/>
        </p:spPr>
        <p:txBody>
          <a:bodyPr wrap="square">
            <a:spAutoFit/>
          </a:bodyPr>
          <a:lstStyle/>
          <a:p>
            <a:pPr>
              <a:defRPr sz="1200" b="1">
                <a:solidFill>
                  <a:srgbClr val="F8FAFC"/>
                </a:solidFill>
                <a:latin typeface="Segoe UI"/>
              </a:defRPr>
            </a:pPr>
            <a:r>
              <a:t>2. Ratings &amp; Reviews (GROUP BY &amp; HAVING)</a:t>
            </a:r>
          </a:p>
        </p:txBody>
      </p:sp>
      <p:sp>
        <p:nvSpPr>
          <p:cNvPr id="14" name="TextBox 13"/>
          <p:cNvSpPr txBox="1"/>
          <p:nvPr/>
        </p:nvSpPr>
        <p:spPr>
          <a:xfrm>
            <a:off x="6355080" y="2103120"/>
            <a:ext cx="4937760" cy="2103120"/>
          </a:xfrm>
          <a:prstGeom prst="rect">
            <a:avLst/>
          </a:prstGeom>
          <a:noFill/>
        </p:spPr>
        <p:txBody>
          <a:bodyPr wrap="square">
            <a:spAutoFit/>
          </a:bodyPr>
          <a:lstStyle/>
          <a:p>
            <a:pPr>
              <a:defRPr sz="950" b="1">
                <a:solidFill>
                  <a:srgbClr val="06B6D4"/>
                </a:solidFill>
              </a:defRPr>
            </a:pPr>
            <a:r>
              <a:t>SQL Query Statement:</a:t>
            </a:r>
          </a:p>
        </p:txBody>
      </p:sp>
      <p:sp>
        <p:nvSpPr>
          <p:cNvPr id="15" name="Rectangle 14"/>
          <p:cNvSpPr/>
          <p:nvPr/>
        </p:nvSpPr>
        <p:spPr>
          <a:xfrm>
            <a:off x="6355080" y="2377440"/>
            <a:ext cx="4937760" cy="1828800"/>
          </a:xfrm>
          <a:prstGeom prst="rect">
            <a:avLst/>
          </a:prstGeom>
          <a:solidFill>
            <a:srgbClr val="080A14"/>
          </a:solidFill>
          <a:ln>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a:solidFill>
                  <a:srgbClr val="A5B4FC"/>
                </a:solidFill>
                <a:latin typeface="Consolas"/>
              </a:defRPr>
            </a:pPr>
            <a:r>
              <a:t>SELECT c.content_id, c.title, g.genre_name,</a:t>
            </a:r>
            <a:br/>
            <a:r>
              <a:t>  COUNT(r.rating_id) AS total_reviews,</a:t>
            </a:r>
            <a:br/>
            <a:r>
              <a:t>  ROUND(AVG(r.rating), 2) AS average_rating,</a:t>
            </a:r>
            <a:br/>
            <a:r>
              <a:t>  MIN(r.rating) AS min_rating,</a:t>
            </a:r>
            <a:br/>
            <a:r>
              <a:t>  MAX(r.rating) AS max_rating</a:t>
            </a:r>
            <a:br/>
            <a:r>
              <a:t>FROM Content c</a:t>
            </a:r>
            <a:br/>
            <a:r>
              <a:t>JOIN Genres g ON c.genre_id = g.genre_id</a:t>
            </a:r>
            <a:br/>
            <a:r>
              <a:t>JOIN Ratings r ON c.content_id = r.content_id</a:t>
            </a:r>
            <a:br/>
            <a:r>
              <a:t>GROUP BY c.content_id, c.title, g.genre_name</a:t>
            </a:r>
            <a:br/>
            <a:r>
              <a:t>HAVING COUNT(r.rating_id) &gt;= 1</a:t>
            </a:r>
            <a:br/>
            <a:r>
              <a:t>ORDER BY average_rating DESC;</a:t>
            </a:r>
          </a:p>
        </p:txBody>
      </p:sp>
      <p:sp>
        <p:nvSpPr>
          <p:cNvPr id="16" name="TextBox 15"/>
          <p:cNvSpPr txBox="1"/>
          <p:nvPr/>
        </p:nvSpPr>
        <p:spPr>
          <a:xfrm>
            <a:off x="6355080" y="4297680"/>
            <a:ext cx="4937760" cy="1554480"/>
          </a:xfrm>
          <a:prstGeom prst="rect">
            <a:avLst/>
          </a:prstGeom>
          <a:noFill/>
        </p:spPr>
        <p:txBody>
          <a:bodyPr wrap="square">
            <a:spAutoFit/>
          </a:bodyPr>
          <a:lstStyle/>
          <a:p>
            <a:pPr>
              <a:defRPr sz="950" b="1">
                <a:solidFill>
                  <a:srgbClr val="F59E0B"/>
                </a:solidFill>
              </a:defRPr>
            </a:pPr>
            <a:r>
              <a:t>DBMS Viva Explanation:</a:t>
            </a:r>
            <a:br/>
            <a:r>
              <a:rPr b="0">
                <a:solidFill>
                  <a:srgbClr val="94A3B8"/>
                </a:solidFill>
              </a:rPr>
              <a:t>Demonstrates 3-table INNER JOIN across Content, Genres, and Ratings. Uses aggregate functions AVG, MIN, MAX, COUNT, and filters aggregated groups using the HAVING clause.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840480" cy="320040"/>
          </a:xfrm>
          <a:prstGeom prst="roundRect">
            <a:avLst/>
          </a:prstGeom>
          <a:solidFill>
            <a:srgbClr val="1920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950" b="1">
                <a:solidFill>
                  <a:srgbClr val="6366F1"/>
                </a:solidFill>
                <a:latin typeface="Segoe UI"/>
              </a:defRPr>
            </a:pPr>
            <a:r>
              <a:t>8. ADVANCED DATABASE OBJECTS</a:t>
            </a:r>
          </a:p>
        </p:txBody>
      </p:sp>
      <p:sp>
        <p:nvSpPr>
          <p:cNvPr id="4" name="TextBox 3"/>
          <p:cNvSpPr txBox="1"/>
          <p:nvPr/>
        </p:nvSpPr>
        <p:spPr>
          <a:xfrm>
            <a:off x="731520" y="777240"/>
            <a:ext cx="10698480" cy="640080"/>
          </a:xfrm>
          <a:prstGeom prst="rect">
            <a:avLst/>
          </a:prstGeom>
          <a:noFill/>
        </p:spPr>
        <p:txBody>
          <a:bodyPr wrap="square">
            <a:spAutoFit/>
          </a:bodyPr>
          <a:lstStyle/>
          <a:p>
            <a:pPr>
              <a:defRPr sz="2200" b="1">
                <a:solidFill>
                  <a:srgbClr val="F8FAFC"/>
                </a:solidFill>
                <a:latin typeface="Segoe UI"/>
              </a:defRPr>
            </a:pPr>
            <a:r>
              <a:t>Stored Procedure, Trigger, SQL View &amp; Function</a:t>
            </a:r>
          </a:p>
          <a:p>
            <a:pPr>
              <a:defRPr sz="1100" i="1">
                <a:solidFill>
                  <a:srgbClr val="94A3B8"/>
                </a:solidFill>
                <a:latin typeface="Segoe UI"/>
              </a:defRPr>
            </a:pPr>
            <a:r>
              <a:t>Server-side business logic and transactional abstractions implemented in MySQL 8.0</a:t>
            </a:r>
          </a:p>
        </p:txBody>
      </p:sp>
      <p:sp>
        <p:nvSpPr>
          <p:cNvPr id="5" name="TextBox 4"/>
          <p:cNvSpPr txBox="1"/>
          <p:nvPr/>
        </p:nvSpPr>
        <p:spPr>
          <a:xfrm>
            <a:off x="731520" y="6400800"/>
            <a:ext cx="10698480" cy="365760"/>
          </a:xfrm>
          <a:prstGeom prst="rect">
            <a:avLst/>
          </a:prstGeom>
          <a:noFill/>
        </p:spPr>
        <p:txBody>
          <a:bodyPr wrap="none">
            <a:spAutoFit/>
          </a:bodyPr>
          <a:lstStyle/>
          <a:p>
            <a:pPr>
              <a:defRPr sz="850">
                <a:solidFill>
                  <a:srgbClr val="64748B"/>
                </a:solidFill>
                <a:latin typeface="Segoe UI"/>
              </a:defRPr>
            </a:pPr>
            <a:r>
              <a:t>StreamSphere — OTT Platform Management System  |  DBMS Laboratory Mini-Project</a:t>
            </a:r>
          </a:p>
        </p:txBody>
      </p:sp>
      <p:sp>
        <p:nvSpPr>
          <p:cNvPr id="6" name="TextBox 5"/>
          <p:cNvSpPr txBox="1"/>
          <p:nvPr/>
        </p:nvSpPr>
        <p:spPr>
          <a:xfrm>
            <a:off x="10515600" y="6400800"/>
            <a:ext cx="914400" cy="365760"/>
          </a:xfrm>
          <a:prstGeom prst="rect">
            <a:avLst/>
          </a:prstGeom>
          <a:noFill/>
        </p:spPr>
        <p:txBody>
          <a:bodyPr wrap="none">
            <a:spAutoFit/>
          </a:bodyPr>
          <a:lstStyle/>
          <a:p>
            <a:pPr algn="r">
              <a:defRPr sz="850" b="1">
                <a:solidFill>
                  <a:srgbClr val="6366F1"/>
                </a:solidFill>
                <a:latin typeface="Segoe UI"/>
              </a:defRPr>
            </a:pPr>
            <a:r>
              <a:t>9 / 12</a:t>
            </a:r>
          </a:p>
        </p:txBody>
      </p:sp>
      <p:sp>
        <p:nvSpPr>
          <p:cNvPr id="7" name="Rounded Rectangle 6"/>
          <p:cNvSpPr/>
          <p:nvPr/>
        </p:nvSpPr>
        <p:spPr>
          <a:xfrm>
            <a:off x="731520" y="1645920"/>
            <a:ext cx="5166360" cy="2148840"/>
          </a:xfrm>
          <a:prstGeom prst="roundRect">
            <a:avLst/>
          </a:prstGeom>
          <a:solidFill>
            <a:srgbClr val="12172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55648"/>
            <a:ext cx="4892040" cy="365760"/>
          </a:xfrm>
          <a:prstGeom prst="rect">
            <a:avLst/>
          </a:prstGeom>
          <a:noFill/>
        </p:spPr>
        <p:txBody>
          <a:bodyPr wrap="square">
            <a:spAutoFit/>
          </a:bodyPr>
          <a:lstStyle/>
          <a:p>
            <a:pPr>
              <a:defRPr sz="1200" b="1">
                <a:solidFill>
                  <a:srgbClr val="F8FAFC"/>
                </a:solidFill>
                <a:latin typeface="Segoe UI"/>
              </a:defRPr>
            </a:pPr>
            <a:r>
              <a:t>Stored Procedure: sp_register_subscription</a:t>
            </a:r>
          </a:p>
        </p:txBody>
      </p:sp>
      <p:sp>
        <p:nvSpPr>
          <p:cNvPr id="9" name="TextBox 8"/>
          <p:cNvSpPr txBox="1"/>
          <p:nvPr/>
        </p:nvSpPr>
        <p:spPr>
          <a:xfrm>
            <a:off x="868680" y="2057400"/>
            <a:ext cx="4892040" cy="1645920"/>
          </a:xfrm>
          <a:prstGeom prst="rect">
            <a:avLst/>
          </a:prstGeom>
          <a:noFill/>
        </p:spPr>
        <p:txBody>
          <a:bodyPr wrap="square">
            <a:spAutoFit/>
          </a:bodyPr>
          <a:lstStyle/>
          <a:p>
            <a:pPr>
              <a:defRPr sz="950">
                <a:solidFill>
                  <a:srgbClr val="94A3B8"/>
                </a:solidFill>
              </a:defRPr>
            </a:pPr>
            <a:r>
              <a:t>• Parameters: IN p_user_id, IN p_plan_id, IN p_start_date, OUT p_sub_id, OUT p_message</a:t>
            </a:r>
            <a:br/>
            <a:r>
              <a:t>• Transactional Atomicity: Uses START TRANSACTION, COMMIT, and EXIT HANDLER FOR SQLEXCEPTION with ROLLBACK.</a:t>
            </a:r>
            <a:br/>
            <a:r>
              <a:t>• Business Rules: Validates user/plan existence, computes end_date = DATE_ADD(start_date, INTERVAL duration DAY), and auto-expires prior active subscriptions.</a:t>
            </a:r>
          </a:p>
        </p:txBody>
      </p:sp>
      <p:sp>
        <p:nvSpPr>
          <p:cNvPr id="10" name="Rounded Rectangle 9"/>
          <p:cNvSpPr/>
          <p:nvPr/>
        </p:nvSpPr>
        <p:spPr>
          <a:xfrm>
            <a:off x="6263640" y="1645920"/>
            <a:ext cx="5166360" cy="2148840"/>
          </a:xfrm>
          <a:prstGeom prst="roundRect">
            <a:avLst/>
          </a:prstGeom>
          <a:solidFill>
            <a:srgbClr val="12172B"/>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55648"/>
            <a:ext cx="4892040" cy="365760"/>
          </a:xfrm>
          <a:prstGeom prst="rect">
            <a:avLst/>
          </a:prstGeom>
          <a:noFill/>
        </p:spPr>
        <p:txBody>
          <a:bodyPr wrap="square">
            <a:spAutoFit/>
          </a:bodyPr>
          <a:lstStyle/>
          <a:p>
            <a:pPr>
              <a:defRPr sz="1200" b="1">
                <a:solidFill>
                  <a:srgbClr val="F8FAFC"/>
                </a:solidFill>
                <a:latin typeface="Segoe UI"/>
              </a:defRPr>
            </a:pPr>
            <a:r>
              <a:t>MySQL Trigger: trg_validate_subscription_insert</a:t>
            </a:r>
          </a:p>
        </p:txBody>
      </p:sp>
      <p:sp>
        <p:nvSpPr>
          <p:cNvPr id="12" name="TextBox 11"/>
          <p:cNvSpPr txBox="1"/>
          <p:nvPr/>
        </p:nvSpPr>
        <p:spPr>
          <a:xfrm>
            <a:off x="6400800" y="2057400"/>
            <a:ext cx="4892040" cy="1645920"/>
          </a:xfrm>
          <a:prstGeom prst="rect">
            <a:avLst/>
          </a:prstGeom>
          <a:noFill/>
        </p:spPr>
        <p:txBody>
          <a:bodyPr wrap="square">
            <a:spAutoFit/>
          </a:bodyPr>
          <a:lstStyle/>
          <a:p>
            <a:pPr>
              <a:defRPr sz="950">
                <a:solidFill>
                  <a:srgbClr val="94A3B8"/>
                </a:solidFill>
              </a:defRPr>
            </a:pPr>
            <a:r>
              <a:t>• Event: BEFORE INSERT ON Subscriptions FOR EACH ROW.</a:t>
            </a:r>
            <a:br/>
            <a:r>
              <a:t>• Validation Logic: Checks if NEW.end_date &lt; NEW.start_date or NEW.amount_paid &lt; 0.00.</a:t>
            </a:r>
            <a:br/>
            <a:r>
              <a:t>• Exception Signaling: Throws SIGNAL SQLSTATE '45000' with custom error message.</a:t>
            </a:r>
            <a:br/>
            <a:r>
              <a:t>• Live Viva Test: Tested via the app's Reports page; attempting invalid dates immediately raises ER_SIGNAL_EXCEPTION.</a:t>
            </a:r>
          </a:p>
        </p:txBody>
      </p:sp>
      <p:sp>
        <p:nvSpPr>
          <p:cNvPr id="13" name="Rounded Rectangle 12"/>
          <p:cNvSpPr/>
          <p:nvPr/>
        </p:nvSpPr>
        <p:spPr>
          <a:xfrm>
            <a:off x="731520" y="3977639"/>
            <a:ext cx="5166360" cy="2148840"/>
          </a:xfrm>
          <a:prstGeom prst="roundRect">
            <a:avLst/>
          </a:prstGeom>
          <a:solidFill>
            <a:srgbClr val="12172B"/>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87367"/>
            <a:ext cx="4892040" cy="365760"/>
          </a:xfrm>
          <a:prstGeom prst="rect">
            <a:avLst/>
          </a:prstGeom>
          <a:noFill/>
        </p:spPr>
        <p:txBody>
          <a:bodyPr wrap="square">
            <a:spAutoFit/>
          </a:bodyPr>
          <a:lstStyle/>
          <a:p>
            <a:pPr>
              <a:defRPr sz="1200" b="1">
                <a:solidFill>
                  <a:srgbClr val="F8FAFC"/>
                </a:solidFill>
                <a:latin typeface="Segoe UI"/>
              </a:defRPr>
            </a:pPr>
            <a:r>
              <a:t>SQL View: vw_content_performance</a:t>
            </a:r>
          </a:p>
        </p:txBody>
      </p:sp>
      <p:sp>
        <p:nvSpPr>
          <p:cNvPr id="15" name="TextBox 14"/>
          <p:cNvSpPr txBox="1"/>
          <p:nvPr/>
        </p:nvSpPr>
        <p:spPr>
          <a:xfrm>
            <a:off x="868680" y="4389120"/>
            <a:ext cx="4892040" cy="1645920"/>
          </a:xfrm>
          <a:prstGeom prst="rect">
            <a:avLst/>
          </a:prstGeom>
          <a:noFill/>
        </p:spPr>
        <p:txBody>
          <a:bodyPr wrap="square">
            <a:spAutoFit/>
          </a:bodyPr>
          <a:lstStyle/>
          <a:p>
            <a:pPr>
              <a:defRPr sz="950">
                <a:solidFill>
                  <a:srgbClr val="94A3B8"/>
                </a:solidFill>
              </a:defRPr>
            </a:pPr>
            <a:r>
              <a:t>• Multi-Table Abstraction: Pre-aggregates Content, Genres, WatchHistory, and Ratings.</a:t>
            </a:r>
            <a:br/>
            <a:r>
              <a:t>• Pre-Computed Metrics: Exposes total_views, total_ratings, and avg_rating.</a:t>
            </a:r>
            <a:br/>
            <a:r>
              <a:t>• Performance &amp; Security: Eliminates writing 4-table joins in dashboard queries and simplifies client access.</a:t>
            </a:r>
          </a:p>
        </p:txBody>
      </p:sp>
      <p:sp>
        <p:nvSpPr>
          <p:cNvPr id="16" name="Rounded Rectangle 15"/>
          <p:cNvSpPr/>
          <p:nvPr/>
        </p:nvSpPr>
        <p:spPr>
          <a:xfrm>
            <a:off x="6263640" y="3977639"/>
            <a:ext cx="5166360" cy="2148840"/>
          </a:xfrm>
          <a:prstGeom prst="roundRect">
            <a:avLst/>
          </a:prstGeom>
          <a:solidFill>
            <a:srgbClr val="12172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087367"/>
            <a:ext cx="4892040" cy="365760"/>
          </a:xfrm>
          <a:prstGeom prst="rect">
            <a:avLst/>
          </a:prstGeom>
          <a:noFill/>
        </p:spPr>
        <p:txBody>
          <a:bodyPr wrap="square">
            <a:spAutoFit/>
          </a:bodyPr>
          <a:lstStyle/>
          <a:p>
            <a:pPr>
              <a:defRPr sz="1200" b="1">
                <a:solidFill>
                  <a:srgbClr val="F8FAFC"/>
                </a:solidFill>
                <a:latin typeface="Segoe UI"/>
              </a:defRPr>
            </a:pPr>
            <a:r>
              <a:t>Stored Function: fn_calculate_user_watch_hours</a:t>
            </a:r>
          </a:p>
        </p:txBody>
      </p:sp>
      <p:sp>
        <p:nvSpPr>
          <p:cNvPr id="18" name="TextBox 17"/>
          <p:cNvSpPr txBox="1"/>
          <p:nvPr/>
        </p:nvSpPr>
        <p:spPr>
          <a:xfrm>
            <a:off x="6400800" y="4389120"/>
            <a:ext cx="4892040" cy="1645920"/>
          </a:xfrm>
          <a:prstGeom prst="rect">
            <a:avLst/>
          </a:prstGeom>
          <a:noFill/>
        </p:spPr>
        <p:txBody>
          <a:bodyPr wrap="square">
            <a:spAutoFit/>
          </a:bodyPr>
          <a:lstStyle/>
          <a:p>
            <a:pPr>
              <a:defRPr sz="950">
                <a:solidFill>
                  <a:srgbClr val="94A3B8"/>
                </a:solidFill>
              </a:defRPr>
            </a:pPr>
            <a:r>
              <a:t>• Deterministic Function: Takes p_user_id INT, queries SUM(progress_minutes) from WatchHistory.</a:t>
            </a:r>
            <a:br/>
            <a:r>
              <a:t>• Mathematical Output: Returns ROUND(v_total_minutes / 60.0, 2) as DECIMAL(6,2).</a:t>
            </a:r>
            <a:br/>
            <a:r>
              <a:t>• Modular Integration: Directly callable within SELECT projection queries across the database.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840480" cy="320040"/>
          </a:xfrm>
          <a:prstGeom prst="roundRect">
            <a:avLst/>
          </a:prstGeom>
          <a:solidFill>
            <a:srgbClr val="1920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950" b="1">
                <a:solidFill>
                  <a:srgbClr val="6366F1"/>
                </a:solidFill>
                <a:latin typeface="Segoe UI"/>
              </a:defRPr>
            </a:pPr>
            <a:r>
              <a:t>9. APPLICATION WALKTHROUGH</a:t>
            </a:r>
          </a:p>
        </p:txBody>
      </p:sp>
      <p:sp>
        <p:nvSpPr>
          <p:cNvPr id="4" name="TextBox 3"/>
          <p:cNvSpPr txBox="1"/>
          <p:nvPr/>
        </p:nvSpPr>
        <p:spPr>
          <a:xfrm>
            <a:off x="731520" y="777240"/>
            <a:ext cx="10698480" cy="640080"/>
          </a:xfrm>
          <a:prstGeom prst="rect">
            <a:avLst/>
          </a:prstGeom>
          <a:noFill/>
        </p:spPr>
        <p:txBody>
          <a:bodyPr wrap="square">
            <a:spAutoFit/>
          </a:bodyPr>
          <a:lstStyle/>
          <a:p>
            <a:pPr>
              <a:defRPr sz="2200" b="1">
                <a:solidFill>
                  <a:srgbClr val="F8FAFC"/>
                </a:solidFill>
                <a:latin typeface="Segoe UI"/>
              </a:defRPr>
            </a:pPr>
            <a:r>
              <a:t>StreamSphere Application Modules &amp; UI Showcase</a:t>
            </a:r>
          </a:p>
          <a:p>
            <a:pPr>
              <a:defRPr sz="1100" i="1">
                <a:solidFill>
                  <a:srgbClr val="94A3B8"/>
                </a:solidFill>
                <a:latin typeface="Segoe UI"/>
              </a:defRPr>
            </a:pPr>
            <a:r>
              <a:t>Verified operational modules connected directly to MySQL backend REST endpoints</a:t>
            </a:r>
          </a:p>
        </p:txBody>
      </p:sp>
      <p:sp>
        <p:nvSpPr>
          <p:cNvPr id="5" name="TextBox 4"/>
          <p:cNvSpPr txBox="1"/>
          <p:nvPr/>
        </p:nvSpPr>
        <p:spPr>
          <a:xfrm>
            <a:off x="731520" y="6400800"/>
            <a:ext cx="10698480" cy="365760"/>
          </a:xfrm>
          <a:prstGeom prst="rect">
            <a:avLst/>
          </a:prstGeom>
          <a:noFill/>
        </p:spPr>
        <p:txBody>
          <a:bodyPr wrap="none">
            <a:spAutoFit/>
          </a:bodyPr>
          <a:lstStyle/>
          <a:p>
            <a:pPr>
              <a:defRPr sz="850">
                <a:solidFill>
                  <a:srgbClr val="64748B"/>
                </a:solidFill>
                <a:latin typeface="Segoe UI"/>
              </a:defRPr>
            </a:pPr>
            <a:r>
              <a:t>StreamSphere — OTT Platform Management System  |  DBMS Laboratory Mini-Project</a:t>
            </a:r>
          </a:p>
        </p:txBody>
      </p:sp>
      <p:sp>
        <p:nvSpPr>
          <p:cNvPr id="6" name="TextBox 5"/>
          <p:cNvSpPr txBox="1"/>
          <p:nvPr/>
        </p:nvSpPr>
        <p:spPr>
          <a:xfrm>
            <a:off x="10515600" y="6400800"/>
            <a:ext cx="914400" cy="365760"/>
          </a:xfrm>
          <a:prstGeom prst="rect">
            <a:avLst/>
          </a:prstGeom>
          <a:noFill/>
        </p:spPr>
        <p:txBody>
          <a:bodyPr wrap="none">
            <a:spAutoFit/>
          </a:bodyPr>
          <a:lstStyle/>
          <a:p>
            <a:pPr algn="r">
              <a:defRPr sz="850" b="1">
                <a:solidFill>
                  <a:srgbClr val="6366F1"/>
                </a:solidFill>
                <a:latin typeface="Segoe UI"/>
              </a:defRPr>
            </a:pPr>
            <a:r>
              <a:t>10 / 12</a:t>
            </a:r>
          </a:p>
        </p:txBody>
      </p:sp>
      <p:sp>
        <p:nvSpPr>
          <p:cNvPr id="7" name="Rounded Rectangle 6"/>
          <p:cNvSpPr/>
          <p:nvPr/>
        </p:nvSpPr>
        <p:spPr>
          <a:xfrm>
            <a:off x="731520" y="1645920"/>
            <a:ext cx="3328416" cy="2057400"/>
          </a:xfrm>
          <a:prstGeom prst="roundRect">
            <a:avLst/>
          </a:prstGeom>
          <a:solidFill>
            <a:srgbClr val="12172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55648"/>
            <a:ext cx="3054096" cy="365760"/>
          </a:xfrm>
          <a:prstGeom prst="rect">
            <a:avLst/>
          </a:prstGeom>
          <a:noFill/>
        </p:spPr>
        <p:txBody>
          <a:bodyPr wrap="square">
            <a:spAutoFit/>
          </a:bodyPr>
          <a:lstStyle/>
          <a:p>
            <a:pPr>
              <a:defRPr sz="1200" b="1">
                <a:solidFill>
                  <a:srgbClr val="F8FAFC"/>
                </a:solidFill>
                <a:latin typeface="Segoe UI"/>
              </a:defRPr>
            </a:pPr>
            <a:r>
              <a:t>1. Operational Dashboard</a:t>
            </a:r>
          </a:p>
        </p:txBody>
      </p:sp>
      <p:sp>
        <p:nvSpPr>
          <p:cNvPr id="9" name="TextBox 8"/>
          <p:cNvSpPr txBox="1"/>
          <p:nvPr/>
        </p:nvSpPr>
        <p:spPr>
          <a:xfrm>
            <a:off x="868680" y="2084832"/>
            <a:ext cx="3054096" cy="1508760"/>
          </a:xfrm>
          <a:prstGeom prst="rect">
            <a:avLst/>
          </a:prstGeom>
          <a:noFill/>
        </p:spPr>
        <p:txBody>
          <a:bodyPr wrap="square">
            <a:spAutoFit/>
          </a:bodyPr>
          <a:lstStyle/>
          <a:p>
            <a:pPr>
              <a:defRPr sz="950">
                <a:solidFill>
                  <a:srgbClr val="94A3B8"/>
                </a:solidFill>
              </a:defRPr>
            </a:pPr>
            <a:r>
              <a:t>Live KPI cards (Users, Catalog, Active Subscriptions, Revenue), interactive genre distribution bars, popular titles, and real-time playback telemetry feed.</a:t>
            </a:r>
          </a:p>
          <a:p>
            <a:pPr>
              <a:defRPr sz="850" i="1">
                <a:solidFill>
                  <a:srgbClr val="10B981"/>
                </a:solidFill>
              </a:defRPr>
            </a:pPr>
            <a:r>
              <a:t>[ Screenshot: Live Screen in App ]</a:t>
            </a:r>
          </a:p>
        </p:txBody>
      </p:sp>
      <p:sp>
        <p:nvSpPr>
          <p:cNvPr id="10" name="Rounded Rectangle 9"/>
          <p:cNvSpPr/>
          <p:nvPr/>
        </p:nvSpPr>
        <p:spPr>
          <a:xfrm>
            <a:off x="4425696" y="1645920"/>
            <a:ext cx="3328416" cy="2057400"/>
          </a:xfrm>
          <a:prstGeom prst="roundRect">
            <a:avLst/>
          </a:prstGeom>
          <a:solidFill>
            <a:srgbClr val="12172B"/>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1755648"/>
            <a:ext cx="3054096" cy="365760"/>
          </a:xfrm>
          <a:prstGeom prst="rect">
            <a:avLst/>
          </a:prstGeom>
          <a:noFill/>
        </p:spPr>
        <p:txBody>
          <a:bodyPr wrap="square">
            <a:spAutoFit/>
          </a:bodyPr>
          <a:lstStyle/>
          <a:p>
            <a:pPr>
              <a:defRPr sz="1200" b="1">
                <a:solidFill>
                  <a:srgbClr val="F8FAFC"/>
                </a:solidFill>
                <a:latin typeface="Segoe UI"/>
              </a:defRPr>
            </a:pPr>
            <a:r>
              <a:t>2. Content Catalog Management</a:t>
            </a:r>
          </a:p>
        </p:txBody>
      </p:sp>
      <p:sp>
        <p:nvSpPr>
          <p:cNvPr id="12" name="TextBox 11"/>
          <p:cNvSpPr txBox="1"/>
          <p:nvPr/>
        </p:nvSpPr>
        <p:spPr>
          <a:xfrm>
            <a:off x="4562856" y="2084832"/>
            <a:ext cx="3054096" cy="1508760"/>
          </a:xfrm>
          <a:prstGeom prst="rect">
            <a:avLst/>
          </a:prstGeom>
          <a:noFill/>
        </p:spPr>
        <p:txBody>
          <a:bodyPr wrap="square">
            <a:spAutoFit/>
          </a:bodyPr>
          <a:lstStyle/>
          <a:p>
            <a:pPr>
              <a:defRPr sz="950">
                <a:solidFill>
                  <a:srgbClr val="94A3B8"/>
                </a:solidFill>
              </a:defRPr>
            </a:pPr>
            <a:r>
              <a:t>Media inventory table with live search by title, filters by genre and format (Movie/Series), release year sorting, and modal CRUD dialogs.</a:t>
            </a:r>
          </a:p>
          <a:p>
            <a:pPr>
              <a:defRPr sz="850" i="1">
                <a:solidFill>
                  <a:srgbClr val="6366F1"/>
                </a:solidFill>
              </a:defRPr>
            </a:pPr>
            <a:r>
              <a:t>[ Screenshot: Live Screen in App ]</a:t>
            </a:r>
          </a:p>
        </p:txBody>
      </p:sp>
      <p:sp>
        <p:nvSpPr>
          <p:cNvPr id="13" name="Rounded Rectangle 12"/>
          <p:cNvSpPr/>
          <p:nvPr/>
        </p:nvSpPr>
        <p:spPr>
          <a:xfrm>
            <a:off x="8119872" y="1645920"/>
            <a:ext cx="3328416" cy="2057400"/>
          </a:xfrm>
          <a:prstGeom prst="roundRect">
            <a:avLst/>
          </a:prstGeom>
          <a:solidFill>
            <a:srgbClr val="12172B"/>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1755648"/>
            <a:ext cx="3054096" cy="365760"/>
          </a:xfrm>
          <a:prstGeom prst="rect">
            <a:avLst/>
          </a:prstGeom>
          <a:noFill/>
        </p:spPr>
        <p:txBody>
          <a:bodyPr wrap="square">
            <a:spAutoFit/>
          </a:bodyPr>
          <a:lstStyle/>
          <a:p>
            <a:pPr>
              <a:defRPr sz="1200" b="1">
                <a:solidFill>
                  <a:srgbClr val="F8FAFC"/>
                </a:solidFill>
                <a:latin typeface="Segoe UI"/>
              </a:defRPr>
            </a:pPr>
            <a:r>
              <a:t>3. User &amp; Access Control</a:t>
            </a:r>
          </a:p>
        </p:txBody>
      </p:sp>
      <p:sp>
        <p:nvSpPr>
          <p:cNvPr id="15" name="TextBox 14"/>
          <p:cNvSpPr txBox="1"/>
          <p:nvPr/>
        </p:nvSpPr>
        <p:spPr>
          <a:xfrm>
            <a:off x="8257032" y="2084832"/>
            <a:ext cx="3054096" cy="1508760"/>
          </a:xfrm>
          <a:prstGeom prst="rect">
            <a:avLst/>
          </a:prstGeom>
          <a:noFill/>
        </p:spPr>
        <p:txBody>
          <a:bodyPr wrap="square">
            <a:spAutoFit/>
          </a:bodyPr>
          <a:lstStyle/>
          <a:p>
            <a:pPr>
              <a:defRPr sz="950">
                <a:solidFill>
                  <a:srgbClr val="94A3B8"/>
                </a:solidFill>
              </a:defRPr>
            </a:pPr>
            <a:r>
              <a:t>Customer and admin profile management with role indicators, email uniqueness verification, and security guard preventing self-deletion.</a:t>
            </a:r>
          </a:p>
          <a:p>
            <a:pPr>
              <a:defRPr sz="850" i="1">
                <a:solidFill>
                  <a:srgbClr val="8B5CF6"/>
                </a:solidFill>
              </a:defRPr>
            </a:pPr>
            <a:r>
              <a:t>[ Screenshot: Live Screen in App ]</a:t>
            </a:r>
          </a:p>
        </p:txBody>
      </p:sp>
      <p:sp>
        <p:nvSpPr>
          <p:cNvPr id="16" name="Rounded Rectangle 15"/>
          <p:cNvSpPr/>
          <p:nvPr/>
        </p:nvSpPr>
        <p:spPr>
          <a:xfrm>
            <a:off x="731520" y="3977639"/>
            <a:ext cx="3328416" cy="2057400"/>
          </a:xfrm>
          <a:prstGeom prst="roundRect">
            <a:avLst/>
          </a:prstGeom>
          <a:solidFill>
            <a:srgbClr val="12172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087367"/>
            <a:ext cx="3054096" cy="365760"/>
          </a:xfrm>
          <a:prstGeom prst="rect">
            <a:avLst/>
          </a:prstGeom>
          <a:noFill/>
        </p:spPr>
        <p:txBody>
          <a:bodyPr wrap="square">
            <a:spAutoFit/>
          </a:bodyPr>
          <a:lstStyle/>
          <a:p>
            <a:pPr>
              <a:defRPr sz="1200" b="1">
                <a:solidFill>
                  <a:srgbClr val="F8FAFC"/>
                </a:solidFill>
                <a:latin typeface="Segoe UI"/>
              </a:defRPr>
            </a:pPr>
            <a:r>
              <a:t>4. Subscription Lifecycle</a:t>
            </a:r>
          </a:p>
        </p:txBody>
      </p:sp>
      <p:sp>
        <p:nvSpPr>
          <p:cNvPr id="18" name="TextBox 17"/>
          <p:cNvSpPr txBox="1"/>
          <p:nvPr/>
        </p:nvSpPr>
        <p:spPr>
          <a:xfrm>
            <a:off x="868680" y="4416551"/>
            <a:ext cx="3054096" cy="1508760"/>
          </a:xfrm>
          <a:prstGeom prst="rect">
            <a:avLst/>
          </a:prstGeom>
          <a:noFill/>
        </p:spPr>
        <p:txBody>
          <a:bodyPr wrap="square">
            <a:spAutoFit/>
          </a:bodyPr>
          <a:lstStyle/>
          <a:p>
            <a:pPr>
              <a:defRPr sz="950">
                <a:solidFill>
                  <a:srgbClr val="94A3B8"/>
                </a:solidFill>
              </a:defRPr>
            </a:pPr>
            <a:r>
              <a:t>Interactive execution of Stored Procedure sp_register_subscription, automatic expiration handling, and remaining access days countdown.</a:t>
            </a:r>
          </a:p>
          <a:p>
            <a:pPr>
              <a:defRPr sz="850" i="1">
                <a:solidFill>
                  <a:srgbClr val="06B6D4"/>
                </a:solidFill>
              </a:defRPr>
            </a:pPr>
            <a:r>
              <a:t>[ Screenshot: Live Screen in App ]</a:t>
            </a:r>
          </a:p>
        </p:txBody>
      </p:sp>
      <p:sp>
        <p:nvSpPr>
          <p:cNvPr id="19" name="Rounded Rectangle 18"/>
          <p:cNvSpPr/>
          <p:nvPr/>
        </p:nvSpPr>
        <p:spPr>
          <a:xfrm>
            <a:off x="4425696" y="3977639"/>
            <a:ext cx="3328416" cy="2057400"/>
          </a:xfrm>
          <a:prstGeom prst="roundRect">
            <a:avLst/>
          </a:prstGeom>
          <a:solidFill>
            <a:srgbClr val="12172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62856" y="4087367"/>
            <a:ext cx="3054096" cy="365760"/>
          </a:xfrm>
          <a:prstGeom prst="rect">
            <a:avLst/>
          </a:prstGeom>
          <a:noFill/>
        </p:spPr>
        <p:txBody>
          <a:bodyPr wrap="square">
            <a:spAutoFit/>
          </a:bodyPr>
          <a:lstStyle/>
          <a:p>
            <a:pPr>
              <a:defRPr sz="1200" b="1">
                <a:solidFill>
                  <a:srgbClr val="F8FAFC"/>
                </a:solidFill>
                <a:latin typeface="Segoe UI"/>
              </a:defRPr>
            </a:pPr>
            <a:r>
              <a:t>5. Playback Telemetry &amp; Reviews</a:t>
            </a:r>
          </a:p>
        </p:txBody>
      </p:sp>
      <p:sp>
        <p:nvSpPr>
          <p:cNvPr id="21" name="TextBox 20"/>
          <p:cNvSpPr txBox="1"/>
          <p:nvPr/>
        </p:nvSpPr>
        <p:spPr>
          <a:xfrm>
            <a:off x="4562856" y="4416551"/>
            <a:ext cx="3054096" cy="1508760"/>
          </a:xfrm>
          <a:prstGeom prst="rect">
            <a:avLst/>
          </a:prstGeom>
          <a:noFill/>
        </p:spPr>
        <p:txBody>
          <a:bodyPr wrap="square">
            <a:spAutoFit/>
          </a:bodyPr>
          <a:lstStyle/>
          <a:p>
            <a:pPr>
              <a:defRPr sz="950">
                <a:solidFill>
                  <a:srgbClr val="94A3B8"/>
                </a:solidFill>
              </a:defRPr>
            </a:pPr>
            <a:r>
              <a:t>Watch history logger tracking streaming duration in minutes, coupled with audience rating submission on a 1.0–5.0 star scale.</a:t>
            </a:r>
          </a:p>
          <a:p>
            <a:pPr>
              <a:defRPr sz="850" i="1">
                <a:solidFill>
                  <a:srgbClr val="F59E0B"/>
                </a:solidFill>
              </a:defRPr>
            </a:pPr>
            <a:r>
              <a:t>[ Screenshot: Live Screen in App ]</a:t>
            </a:r>
          </a:p>
        </p:txBody>
      </p:sp>
      <p:sp>
        <p:nvSpPr>
          <p:cNvPr id="22" name="Rounded Rectangle 21"/>
          <p:cNvSpPr/>
          <p:nvPr/>
        </p:nvSpPr>
        <p:spPr>
          <a:xfrm>
            <a:off x="8119872" y="3977639"/>
            <a:ext cx="3328416" cy="2057400"/>
          </a:xfrm>
          <a:prstGeom prst="roundRect">
            <a:avLst/>
          </a:prstGeom>
          <a:solidFill>
            <a:srgbClr val="12172B"/>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57032" y="4087367"/>
            <a:ext cx="3054096" cy="365760"/>
          </a:xfrm>
          <a:prstGeom prst="rect">
            <a:avLst/>
          </a:prstGeom>
          <a:noFill/>
        </p:spPr>
        <p:txBody>
          <a:bodyPr wrap="square">
            <a:spAutoFit/>
          </a:bodyPr>
          <a:lstStyle/>
          <a:p>
            <a:pPr>
              <a:defRPr sz="1200" b="1">
                <a:solidFill>
                  <a:srgbClr val="F8FAFC"/>
                </a:solidFill>
                <a:latin typeface="Segoe UI"/>
              </a:defRPr>
            </a:pPr>
            <a:r>
              <a:t>6. DBMS Lab &amp; Viva Showcase</a:t>
            </a:r>
          </a:p>
        </p:txBody>
      </p:sp>
      <p:sp>
        <p:nvSpPr>
          <p:cNvPr id="24" name="TextBox 23"/>
          <p:cNvSpPr txBox="1"/>
          <p:nvPr/>
        </p:nvSpPr>
        <p:spPr>
          <a:xfrm>
            <a:off x="8257032" y="4416551"/>
            <a:ext cx="3054096" cy="1508760"/>
          </a:xfrm>
          <a:prstGeom prst="rect">
            <a:avLst/>
          </a:prstGeom>
          <a:noFill/>
        </p:spPr>
        <p:txBody>
          <a:bodyPr wrap="square">
            <a:spAutoFit/>
          </a:bodyPr>
          <a:lstStyle/>
          <a:p>
            <a:pPr>
              <a:defRPr sz="950">
                <a:solidFill>
                  <a:srgbClr val="94A3B8"/>
                </a:solidFill>
              </a:defRPr>
            </a:pPr>
            <a:r>
              <a:t>Dedicated demonstration screen with live SQL query inspector, SQL View explorer, Stored Procedure runner, and interactive Trigger tester.</a:t>
            </a:r>
          </a:p>
          <a:p>
            <a:pPr>
              <a:defRPr sz="850" i="1">
                <a:solidFill>
                  <a:srgbClr val="EF4444"/>
                </a:solidFill>
              </a:defRPr>
            </a:pPr>
            <a:r>
              <a:t>[ Screenshot: Live Screen in App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840480" cy="320040"/>
          </a:xfrm>
          <a:prstGeom prst="roundRect">
            <a:avLst/>
          </a:prstGeom>
          <a:solidFill>
            <a:srgbClr val="1920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950" b="1">
                <a:solidFill>
                  <a:srgbClr val="6366F1"/>
                </a:solidFill>
                <a:latin typeface="Segoe UI"/>
              </a:defRPr>
            </a:pPr>
            <a:r>
              <a:t>10. TESTING &amp; QUALITY ASSURANCE</a:t>
            </a:r>
          </a:p>
        </p:txBody>
      </p:sp>
      <p:sp>
        <p:nvSpPr>
          <p:cNvPr id="4" name="TextBox 3"/>
          <p:cNvSpPr txBox="1"/>
          <p:nvPr/>
        </p:nvSpPr>
        <p:spPr>
          <a:xfrm>
            <a:off x="731520" y="777240"/>
            <a:ext cx="10698480" cy="640080"/>
          </a:xfrm>
          <a:prstGeom prst="rect">
            <a:avLst/>
          </a:prstGeom>
          <a:noFill/>
        </p:spPr>
        <p:txBody>
          <a:bodyPr wrap="square">
            <a:spAutoFit/>
          </a:bodyPr>
          <a:lstStyle/>
          <a:p>
            <a:pPr>
              <a:defRPr sz="2200" b="1">
                <a:solidFill>
                  <a:srgbClr val="F8FAFC"/>
                </a:solidFill>
                <a:latin typeface="Segoe UI"/>
              </a:defRPr>
            </a:pPr>
            <a:r>
              <a:t>Empirical Testing &amp; Verification Results</a:t>
            </a:r>
          </a:p>
          <a:p>
            <a:pPr>
              <a:defRPr sz="1100" i="1">
                <a:solidFill>
                  <a:srgbClr val="94A3B8"/>
                </a:solidFill>
                <a:latin typeface="Segoe UI"/>
              </a:defRPr>
            </a:pPr>
            <a:r>
              <a:t>100% verified test cases executed against MySQL database and REST API endpoints</a:t>
            </a:r>
          </a:p>
        </p:txBody>
      </p:sp>
      <p:sp>
        <p:nvSpPr>
          <p:cNvPr id="5" name="TextBox 4"/>
          <p:cNvSpPr txBox="1"/>
          <p:nvPr/>
        </p:nvSpPr>
        <p:spPr>
          <a:xfrm>
            <a:off x="731520" y="6400800"/>
            <a:ext cx="10698480" cy="365760"/>
          </a:xfrm>
          <a:prstGeom prst="rect">
            <a:avLst/>
          </a:prstGeom>
          <a:noFill/>
        </p:spPr>
        <p:txBody>
          <a:bodyPr wrap="none">
            <a:spAutoFit/>
          </a:bodyPr>
          <a:lstStyle/>
          <a:p>
            <a:pPr>
              <a:defRPr sz="850">
                <a:solidFill>
                  <a:srgbClr val="64748B"/>
                </a:solidFill>
                <a:latin typeface="Segoe UI"/>
              </a:defRPr>
            </a:pPr>
            <a:r>
              <a:t>StreamSphere — OTT Platform Management System  |  DBMS Laboratory Mini-Project</a:t>
            </a:r>
          </a:p>
        </p:txBody>
      </p:sp>
      <p:sp>
        <p:nvSpPr>
          <p:cNvPr id="6" name="TextBox 5"/>
          <p:cNvSpPr txBox="1"/>
          <p:nvPr/>
        </p:nvSpPr>
        <p:spPr>
          <a:xfrm>
            <a:off x="10515600" y="6400800"/>
            <a:ext cx="914400" cy="365760"/>
          </a:xfrm>
          <a:prstGeom prst="rect">
            <a:avLst/>
          </a:prstGeom>
          <a:noFill/>
        </p:spPr>
        <p:txBody>
          <a:bodyPr wrap="none">
            <a:spAutoFit/>
          </a:bodyPr>
          <a:lstStyle/>
          <a:p>
            <a:pPr algn="r">
              <a:defRPr sz="850" b="1">
                <a:solidFill>
                  <a:srgbClr val="6366F1"/>
                </a:solidFill>
                <a:latin typeface="Segoe UI"/>
              </a:defRPr>
            </a:pPr>
            <a:r>
              <a:t>11 / 12</a:t>
            </a:r>
          </a:p>
        </p:txBody>
      </p:sp>
      <p:sp>
        <p:nvSpPr>
          <p:cNvPr id="7" name="Rounded Rectangle 6"/>
          <p:cNvSpPr/>
          <p:nvPr/>
        </p:nvSpPr>
        <p:spPr>
          <a:xfrm>
            <a:off x="731520" y="1600200"/>
            <a:ext cx="1069848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Segoe UI"/>
              </a:defRPr>
            </a:pPr>
            <a:r>
              <a:t>VERIFIED TEST EXECUTION: ALL 15 AUTOMATED SYSTEM &amp; DATABASE TESTS PASSED SUCCESSFULLY</a:t>
            </a:r>
          </a:p>
        </p:txBody>
      </p:sp>
      <p:sp>
        <p:nvSpPr>
          <p:cNvPr id="8" name="Rounded Rectangle 7"/>
          <p:cNvSpPr/>
          <p:nvPr/>
        </p:nvSpPr>
        <p:spPr>
          <a:xfrm>
            <a:off x="731520" y="2194560"/>
            <a:ext cx="10698480" cy="4023360"/>
          </a:xfrm>
          <a:prstGeom prst="roundRect">
            <a:avLst/>
          </a:prstGeom>
          <a:solidFill>
            <a:srgbClr val="12172B"/>
          </a:solidFill>
          <a:ln w="15240">
            <a:solidFill>
              <a:srgbClr val="2D3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304288"/>
            <a:ext cx="10424160" cy="365760"/>
          </a:xfrm>
          <a:prstGeom prst="rect">
            <a:avLst/>
          </a:prstGeom>
          <a:noFill/>
        </p:spPr>
        <p:txBody>
          <a:bodyPr wrap="square">
            <a:spAutoFit/>
          </a:bodyPr>
          <a:lstStyle/>
          <a:p>
            <a:pPr>
              <a:defRPr sz="1200" b="1">
                <a:solidFill>
                  <a:srgbClr val="F8FAFC"/>
                </a:solidFill>
                <a:latin typeface="Segoe UI"/>
              </a:defRPr>
            </a:pPr>
            <a:r>
              <a:t>Automated End-to-End Test Matrix</a:t>
            </a:r>
          </a:p>
        </p:txBody>
      </p:sp>
      <p:sp>
        <p:nvSpPr>
          <p:cNvPr id="10" name="TextBox 9"/>
          <p:cNvSpPr txBox="1"/>
          <p:nvPr/>
        </p:nvSpPr>
        <p:spPr>
          <a:xfrm>
            <a:off x="868680" y="2651760"/>
            <a:ext cx="10424160" cy="3383280"/>
          </a:xfrm>
          <a:prstGeom prst="rect">
            <a:avLst/>
          </a:prstGeom>
          <a:noFill/>
        </p:spPr>
        <p:txBody>
          <a:bodyPr wrap="square">
            <a:spAutoFit/>
          </a:bodyPr>
          <a:lstStyle/>
          <a:p>
            <a:pPr>
              <a:spcAft>
                <a:spcPts val="200"/>
              </a:spcAft>
              <a:defRPr sz="850">
                <a:solidFill>
                  <a:srgbClr val="94A3B8"/>
                </a:solidFill>
                <a:latin typeface="Consolas"/>
              </a:defRPr>
            </a:pPr>
            <a:r>
              <a:t>TC-01 | Database Connectivity | Verify MySQL connection pool and health check | Expected: HTTP 200, connected to streamsphere_db  </a:t>
            </a:r>
            <a:r>
              <a:rPr b="1">
                <a:solidFill>
                  <a:srgbClr val="10B981"/>
                </a:solidFill>
              </a:rPr>
              <a:t>[PASS]</a:t>
            </a:r>
          </a:p>
          <a:p>
            <a:pPr>
              <a:spcAft>
                <a:spcPts val="200"/>
              </a:spcAft>
              <a:defRPr sz="850">
                <a:solidFill>
                  <a:srgbClr val="94A3B8"/>
                </a:solidFill>
                <a:latin typeface="Consolas"/>
              </a:defRPr>
            </a:pPr>
            <a:r>
              <a:t>TC-02 | Admin Authentication | Login with valid admin credentials       | Expected: HTTP 200, JWT token returned, role: Admin  </a:t>
            </a:r>
            <a:r>
              <a:rPr b="1">
                <a:solidFill>
                  <a:srgbClr val="10B981"/>
                </a:solidFill>
              </a:rPr>
              <a:t>[PASS]</a:t>
            </a:r>
          </a:p>
          <a:p>
            <a:pPr>
              <a:spcAft>
                <a:spcPts val="200"/>
              </a:spcAft>
              <a:defRPr sz="850">
                <a:solidFill>
                  <a:srgbClr val="94A3B8"/>
                </a:solidFill>
                <a:latin typeface="Consolas"/>
              </a:defRPr>
            </a:pPr>
            <a:r>
              <a:t>TC-03 | Invalid Login Guard  | Submit incorrect password                | Expected: HTTP 401 Unauthorized, access rejected  </a:t>
            </a:r>
            <a:r>
              <a:rPr b="1">
                <a:solidFill>
                  <a:srgbClr val="10B981"/>
                </a:solidFill>
              </a:rPr>
              <a:t>[PASS]</a:t>
            </a:r>
          </a:p>
          <a:p>
            <a:pPr>
              <a:spcAft>
                <a:spcPts val="200"/>
              </a:spcAft>
              <a:defRPr sz="850">
                <a:solidFill>
                  <a:srgbClr val="94A3B8"/>
                </a:solidFill>
                <a:latin typeface="Consolas"/>
              </a:defRPr>
            </a:pPr>
            <a:r>
              <a:t>TC-04 | Live Dashboard Stats | Query aggregate user, content, and revenue KPIs | Expected: HTTP 200, users=12, content=12, rev=₹10,938  </a:t>
            </a:r>
            <a:r>
              <a:rPr b="1">
                <a:solidFill>
                  <a:srgbClr val="10B981"/>
                </a:solidFill>
              </a:rPr>
              <a:t>[PASS]</a:t>
            </a:r>
          </a:p>
          <a:p>
            <a:pPr>
              <a:spcAft>
                <a:spcPts val="200"/>
              </a:spcAft>
              <a:defRPr sz="850">
                <a:solidFill>
                  <a:srgbClr val="94A3B8"/>
                </a:solidFill>
                <a:latin typeface="Consolas"/>
              </a:defRPr>
            </a:pPr>
            <a:r>
              <a:t>TC-05 | Parameterized Filtering | Filter content by genre (Sci-Fi, genre_id=2) | Expected: HTTP 200, returns exactly 3 Sci-Fi titles  </a:t>
            </a:r>
            <a:r>
              <a:rPr b="1">
                <a:solidFill>
                  <a:srgbClr val="10B981"/>
                </a:solidFill>
              </a:rPr>
              <a:t>[PASS]</a:t>
            </a:r>
          </a:p>
          <a:p>
            <a:pPr>
              <a:spcAft>
                <a:spcPts val="200"/>
              </a:spcAft>
              <a:defRPr sz="850">
                <a:solidFill>
                  <a:srgbClr val="94A3B8"/>
                </a:solidFill>
                <a:latin typeface="Consolas"/>
              </a:defRPr>
            </a:pPr>
            <a:r>
              <a:t>TC-06 | Stored Procedure     | Execute CALL sp_register_subscription(4, 1, ...) | Expected: HTTP 201, auto-expires prior sub, returns ID  </a:t>
            </a:r>
            <a:r>
              <a:rPr b="1">
                <a:solidFill>
                  <a:srgbClr val="10B981"/>
                </a:solidFill>
              </a:rPr>
              <a:t>[PASS]</a:t>
            </a:r>
          </a:p>
          <a:p>
            <a:pPr>
              <a:spcAft>
                <a:spcPts val="200"/>
              </a:spcAft>
              <a:defRPr sz="850">
                <a:solidFill>
                  <a:srgbClr val="94A3B8"/>
                </a:solidFill>
                <a:latin typeface="Consolas"/>
              </a:defRPr>
            </a:pPr>
            <a:r>
              <a:t>TC-07 | MySQL Trigger Validation | Attempt invalid subscription (end_date &lt; start_date) | Expected: Trigger intercepts, signals SQLSTATE 45000  </a:t>
            </a:r>
            <a:r>
              <a:rPr b="1">
                <a:solidFill>
                  <a:srgbClr val="10B981"/>
                </a:solidFill>
              </a:rPr>
              <a:t>[PASS]</a:t>
            </a:r>
          </a:p>
          <a:p>
            <a:pPr>
              <a:spcAft>
                <a:spcPts val="200"/>
              </a:spcAft>
              <a:defRPr sz="850">
                <a:solidFill>
                  <a:srgbClr val="94A3B8"/>
                </a:solidFill>
                <a:latin typeface="Consolas"/>
              </a:defRPr>
            </a:pPr>
            <a:r>
              <a:t>TC-08 | SQL View Execution   | Query SELECT * FROM vw_content_performance | Expected: HTTP 200, 12 summarized rows returned  </a:t>
            </a:r>
            <a:r>
              <a:rPr b="1">
                <a:solidFill>
                  <a:srgbClr val="10B981"/>
                </a:solidFill>
              </a:rPr>
              <a:t>[PASS]</a:t>
            </a:r>
          </a:p>
          <a:p>
            <a:pPr>
              <a:spcAft>
                <a:spcPts val="200"/>
              </a:spcAft>
              <a:defRPr sz="850">
                <a:solidFill>
                  <a:srgbClr val="94A3B8"/>
                </a:solidFill>
                <a:latin typeface="Consolas"/>
              </a:defRPr>
            </a:pPr>
            <a:r>
              <a:t>TC-09 | Referential Integrity | Delete genre referenced by active titles | Expected: HTTP 400 Bad Request (RESTRICT enforced)  </a:t>
            </a:r>
            <a:r>
              <a:rPr b="1">
                <a:solidFill>
                  <a:srgbClr val="10B981"/>
                </a:solidFill>
              </a:rPr>
              <a:t>[PASS]</a:t>
            </a:r>
          </a:p>
          <a:p>
            <a:pPr>
              <a:spcAft>
                <a:spcPts val="200"/>
              </a:spcAft>
              <a:defRPr sz="850">
                <a:solidFill>
                  <a:srgbClr val="94A3B8"/>
                </a:solidFill>
                <a:latin typeface="Consolas"/>
              </a:defRPr>
            </a:pPr>
            <a:r>
              <a:t>TC-10 | Composite Unique Key | Submit review on existing user-content pair | Expected: HTTP 201, ON DUPLICATE KEY UPDATE executed  </a:t>
            </a:r>
            <a:r>
              <a:rPr b="1">
                <a:solidFill>
                  <a:srgbClr val="10B981"/>
                </a:solidFill>
              </a:rPr>
              <a:t>[PASS]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840480" cy="320040"/>
          </a:xfrm>
          <a:prstGeom prst="roundRect">
            <a:avLst/>
          </a:prstGeom>
          <a:solidFill>
            <a:srgbClr val="1920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950" b="1">
                <a:solidFill>
                  <a:srgbClr val="6366F1"/>
                </a:solidFill>
                <a:latin typeface="Segoe UI"/>
              </a:defRPr>
            </a:pPr>
            <a:r>
              <a:t>11. CONCLUSION &amp; SCOPE</a:t>
            </a:r>
          </a:p>
        </p:txBody>
      </p:sp>
      <p:sp>
        <p:nvSpPr>
          <p:cNvPr id="4" name="TextBox 3"/>
          <p:cNvSpPr txBox="1"/>
          <p:nvPr/>
        </p:nvSpPr>
        <p:spPr>
          <a:xfrm>
            <a:off x="731520" y="777240"/>
            <a:ext cx="10698480" cy="640080"/>
          </a:xfrm>
          <a:prstGeom prst="rect">
            <a:avLst/>
          </a:prstGeom>
          <a:noFill/>
        </p:spPr>
        <p:txBody>
          <a:bodyPr wrap="square">
            <a:spAutoFit/>
          </a:bodyPr>
          <a:lstStyle/>
          <a:p>
            <a:pPr>
              <a:defRPr sz="2200" b="1">
                <a:solidFill>
                  <a:srgbClr val="F8FAFC"/>
                </a:solidFill>
                <a:latin typeface="Segoe UI"/>
              </a:defRPr>
            </a:pPr>
            <a:r>
              <a:t>Project Summary, Academic Contributions &amp; Future Scope</a:t>
            </a:r>
          </a:p>
          <a:p>
            <a:pPr>
              <a:defRPr sz="1100" i="1">
                <a:solidFill>
                  <a:srgbClr val="94A3B8"/>
                </a:solidFill>
                <a:latin typeface="Segoe UI"/>
              </a:defRPr>
            </a:pPr>
            <a:r>
              <a:t>Reflecting on achievements, database engineering takeaways, and technical scalability</a:t>
            </a:r>
          </a:p>
        </p:txBody>
      </p:sp>
      <p:sp>
        <p:nvSpPr>
          <p:cNvPr id="5" name="TextBox 4"/>
          <p:cNvSpPr txBox="1"/>
          <p:nvPr/>
        </p:nvSpPr>
        <p:spPr>
          <a:xfrm>
            <a:off x="731520" y="6400800"/>
            <a:ext cx="10698480" cy="365760"/>
          </a:xfrm>
          <a:prstGeom prst="rect">
            <a:avLst/>
          </a:prstGeom>
          <a:noFill/>
        </p:spPr>
        <p:txBody>
          <a:bodyPr wrap="none">
            <a:spAutoFit/>
          </a:bodyPr>
          <a:lstStyle/>
          <a:p>
            <a:pPr>
              <a:defRPr sz="850">
                <a:solidFill>
                  <a:srgbClr val="64748B"/>
                </a:solidFill>
                <a:latin typeface="Segoe UI"/>
              </a:defRPr>
            </a:pPr>
            <a:r>
              <a:t>StreamSphere — OTT Platform Management System  |  DBMS Laboratory Mini-Project</a:t>
            </a:r>
          </a:p>
        </p:txBody>
      </p:sp>
      <p:sp>
        <p:nvSpPr>
          <p:cNvPr id="6" name="TextBox 5"/>
          <p:cNvSpPr txBox="1"/>
          <p:nvPr/>
        </p:nvSpPr>
        <p:spPr>
          <a:xfrm>
            <a:off x="10515600" y="6400800"/>
            <a:ext cx="914400" cy="365760"/>
          </a:xfrm>
          <a:prstGeom prst="rect">
            <a:avLst/>
          </a:prstGeom>
          <a:noFill/>
        </p:spPr>
        <p:txBody>
          <a:bodyPr wrap="none">
            <a:spAutoFit/>
          </a:bodyPr>
          <a:lstStyle/>
          <a:p>
            <a:pPr algn="r">
              <a:defRPr sz="850" b="1">
                <a:solidFill>
                  <a:srgbClr val="6366F1"/>
                </a:solidFill>
                <a:latin typeface="Segoe UI"/>
              </a:defRPr>
            </a:pPr>
            <a:r>
              <a:t>12 / 12</a:t>
            </a:r>
          </a:p>
        </p:txBody>
      </p:sp>
      <p:sp>
        <p:nvSpPr>
          <p:cNvPr id="7" name="Rounded Rectangle 6"/>
          <p:cNvSpPr/>
          <p:nvPr/>
        </p:nvSpPr>
        <p:spPr>
          <a:xfrm>
            <a:off x="731520" y="1645920"/>
            <a:ext cx="5120640" cy="3657600"/>
          </a:xfrm>
          <a:prstGeom prst="roundRect">
            <a:avLst/>
          </a:prstGeom>
          <a:solidFill>
            <a:srgbClr val="12172B"/>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55648"/>
            <a:ext cx="4846320" cy="365760"/>
          </a:xfrm>
          <a:prstGeom prst="rect">
            <a:avLst/>
          </a:prstGeom>
          <a:noFill/>
        </p:spPr>
        <p:txBody>
          <a:bodyPr wrap="square">
            <a:spAutoFit/>
          </a:bodyPr>
          <a:lstStyle/>
          <a:p>
            <a:pPr>
              <a:defRPr sz="1200" b="1">
                <a:solidFill>
                  <a:srgbClr val="F8FAFC"/>
                </a:solidFill>
                <a:latin typeface="Segoe UI"/>
              </a:defRPr>
            </a:pPr>
            <a:r>
              <a:t>Key Project Achievements</a:t>
            </a:r>
          </a:p>
        </p:txBody>
      </p:sp>
      <p:sp>
        <p:nvSpPr>
          <p:cNvPr id="9" name="TextBox 8"/>
          <p:cNvSpPr txBox="1"/>
          <p:nvPr/>
        </p:nvSpPr>
        <p:spPr>
          <a:xfrm>
            <a:off x="914400" y="2194560"/>
            <a:ext cx="4754880" cy="2926080"/>
          </a:xfrm>
          <a:prstGeom prst="rect">
            <a:avLst/>
          </a:prstGeom>
          <a:noFill/>
        </p:spPr>
        <p:txBody>
          <a:bodyPr wrap="square">
            <a:spAutoFit/>
          </a:bodyPr>
          <a:lstStyle/>
          <a:p>
            <a:pPr>
              <a:spcAft>
                <a:spcPts val="600"/>
              </a:spcAft>
              <a:defRPr sz="1000" b="1">
                <a:solidFill>
                  <a:srgbClr val="6366F1"/>
                </a:solidFill>
              </a:defRPr>
            </a:pPr>
            <a:r>
              <a:t>•  Database-First Engineering: </a:t>
            </a:r>
            <a:r>
              <a:rPr b="0">
                <a:solidFill>
                  <a:srgbClr val="94A3B8"/>
                </a:solidFill>
              </a:rPr>
              <a:t>Built a complete working system where every single view and report runs genuine SQL against MySQL 8.0.</a:t>
            </a:r>
          </a:p>
          <a:p>
            <a:pPr>
              <a:spcAft>
                <a:spcPts val="600"/>
              </a:spcAft>
              <a:defRPr sz="1000" b="1">
                <a:solidFill>
                  <a:srgbClr val="6366F1"/>
                </a:solidFill>
              </a:defRPr>
            </a:pPr>
            <a:r>
              <a:t>•  Formal Normalization: </a:t>
            </a:r>
            <a:r>
              <a:rPr b="0">
                <a:solidFill>
                  <a:srgbClr val="94A3B8"/>
                </a:solidFill>
              </a:rPr>
              <a:t>Demonstrated and verified schema decomposition up to 3NF/BCNF, eliminating update anomalies.</a:t>
            </a:r>
          </a:p>
          <a:p>
            <a:pPr>
              <a:spcAft>
                <a:spcPts val="600"/>
              </a:spcAft>
              <a:defRPr sz="1000" b="1">
                <a:solidFill>
                  <a:srgbClr val="6366F1"/>
                </a:solidFill>
              </a:defRPr>
            </a:pPr>
            <a:r>
              <a:t>•  Active SQL Programmability: </a:t>
            </a:r>
            <a:r>
              <a:rPr b="0">
                <a:solidFill>
                  <a:srgbClr val="94A3B8"/>
                </a:solidFill>
              </a:rPr>
              <a:t>Implemented and verified Stored Procedures, Triggers, Views, and Check Constraints.</a:t>
            </a:r>
          </a:p>
          <a:p>
            <a:pPr>
              <a:spcAft>
                <a:spcPts val="600"/>
              </a:spcAft>
              <a:defRPr sz="1000" b="1">
                <a:solidFill>
                  <a:srgbClr val="6366F1"/>
                </a:solidFill>
              </a:defRPr>
            </a:pPr>
            <a:r>
              <a:t>•  Security &amp; Integrity: </a:t>
            </a:r>
            <a:r>
              <a:rPr b="0">
                <a:solidFill>
                  <a:srgbClr val="94A3B8"/>
                </a:solidFill>
              </a:rPr>
              <a:t>Enforced parameterized queries against SQL injection and utilized bcrypt password hashing.</a:t>
            </a:r>
          </a:p>
          <a:p>
            <a:pPr>
              <a:spcAft>
                <a:spcPts val="600"/>
              </a:spcAft>
              <a:defRPr sz="1000" b="1">
                <a:solidFill>
                  <a:srgbClr val="6366F1"/>
                </a:solidFill>
              </a:defRPr>
            </a:pPr>
            <a:r>
              <a:t>•  Viva Demonstration Ready: </a:t>
            </a:r>
            <a:r>
              <a:rPr b="0">
                <a:solidFill>
                  <a:srgbClr val="94A3B8"/>
                </a:solidFill>
              </a:rPr>
              <a:t>Full UI and backend running live with automated test confirmation.</a:t>
            </a:r>
          </a:p>
        </p:txBody>
      </p:sp>
      <p:sp>
        <p:nvSpPr>
          <p:cNvPr id="10" name="Rounded Rectangle 9"/>
          <p:cNvSpPr/>
          <p:nvPr/>
        </p:nvSpPr>
        <p:spPr>
          <a:xfrm>
            <a:off x="6217920" y="1645920"/>
            <a:ext cx="5212080" cy="3657600"/>
          </a:xfrm>
          <a:prstGeom prst="roundRect">
            <a:avLst/>
          </a:prstGeom>
          <a:solidFill>
            <a:srgbClr val="12172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755648"/>
            <a:ext cx="4937760" cy="365760"/>
          </a:xfrm>
          <a:prstGeom prst="rect">
            <a:avLst/>
          </a:prstGeom>
          <a:noFill/>
        </p:spPr>
        <p:txBody>
          <a:bodyPr wrap="square">
            <a:spAutoFit/>
          </a:bodyPr>
          <a:lstStyle/>
          <a:p>
            <a:pPr>
              <a:defRPr sz="1200" b="1">
                <a:solidFill>
                  <a:srgbClr val="F8FAFC"/>
                </a:solidFill>
                <a:latin typeface="Segoe UI"/>
              </a:defRPr>
            </a:pPr>
            <a:r>
              <a:t>Future Roadmap &amp; Scalability Scope</a:t>
            </a:r>
          </a:p>
        </p:txBody>
      </p:sp>
      <p:sp>
        <p:nvSpPr>
          <p:cNvPr id="12" name="TextBox 11"/>
          <p:cNvSpPr txBox="1"/>
          <p:nvPr/>
        </p:nvSpPr>
        <p:spPr>
          <a:xfrm>
            <a:off x="6400800" y="2194560"/>
            <a:ext cx="4846320" cy="2926080"/>
          </a:xfrm>
          <a:prstGeom prst="rect">
            <a:avLst/>
          </a:prstGeom>
          <a:noFill/>
        </p:spPr>
        <p:txBody>
          <a:bodyPr wrap="square">
            <a:spAutoFit/>
          </a:bodyPr>
          <a:lstStyle/>
          <a:p>
            <a:pPr>
              <a:spcAft>
                <a:spcPts val="600"/>
              </a:spcAft>
              <a:defRPr sz="1000" b="1">
                <a:solidFill>
                  <a:srgbClr val="06B6D4"/>
                </a:solidFill>
              </a:defRPr>
            </a:pPr>
            <a:r>
              <a:t>•  CDN &amp; HLS Video Streaming: </a:t>
            </a:r>
            <a:r>
              <a:rPr b="0">
                <a:solidFill>
                  <a:srgbClr val="94A3B8"/>
                </a:solidFill>
              </a:rPr>
              <a:t>Integration of Amazon S3/CloudFront and HTTP Live Streaming (HLS) adaptive bitrate chunking.</a:t>
            </a:r>
          </a:p>
          <a:p>
            <a:pPr>
              <a:spcAft>
                <a:spcPts val="600"/>
              </a:spcAft>
              <a:defRPr sz="1000" b="1">
                <a:solidFill>
                  <a:srgbClr val="06B6D4"/>
                </a:solidFill>
              </a:defRPr>
            </a:pPr>
            <a:r>
              <a:t>•  ML Recommendation Engine: </a:t>
            </a:r>
            <a:r>
              <a:rPr b="0">
                <a:solidFill>
                  <a:srgbClr val="94A3B8"/>
                </a:solidFill>
              </a:rPr>
              <a:t>Collaborative filtering matrix factorization and cosine similarity models based on watch history and ratings.</a:t>
            </a:r>
          </a:p>
          <a:p>
            <a:pPr>
              <a:spcAft>
                <a:spcPts val="600"/>
              </a:spcAft>
              <a:defRPr sz="1000" b="1">
                <a:solidFill>
                  <a:srgbClr val="06B6D4"/>
                </a:solidFill>
              </a:defRPr>
            </a:pPr>
            <a:r>
              <a:t>•  Commercial Payment Webhooks: </a:t>
            </a:r>
            <a:r>
              <a:rPr b="0">
                <a:solidFill>
                  <a:srgbClr val="94A3B8"/>
                </a:solidFill>
              </a:rPr>
              <a:t>Integration with payment gateways (Stripe/Razorpay) for automated renewal events.</a:t>
            </a:r>
          </a:p>
          <a:p>
            <a:pPr>
              <a:spcAft>
                <a:spcPts val="600"/>
              </a:spcAft>
              <a:defRPr sz="1000" b="1">
                <a:solidFill>
                  <a:srgbClr val="06B6D4"/>
                </a:solidFill>
              </a:defRPr>
            </a:pPr>
            <a:r>
              <a:t>•  Multi-Profile Account Sharing: </a:t>
            </a:r>
            <a:r>
              <a:rPr b="0">
                <a:solidFill>
                  <a:srgbClr val="94A3B8"/>
                </a:solidFill>
              </a:rPr>
              <a:t>Adding family profile partitions per user account with parental rating control PINs.</a:t>
            </a:r>
          </a:p>
        </p:txBody>
      </p:sp>
      <p:sp>
        <p:nvSpPr>
          <p:cNvPr id="13" name="Rounded Rectangle 12"/>
          <p:cNvSpPr/>
          <p:nvPr/>
        </p:nvSpPr>
        <p:spPr>
          <a:xfrm>
            <a:off x="731520" y="5486400"/>
            <a:ext cx="10698480" cy="731520"/>
          </a:xfrm>
          <a:prstGeom prst="roundRect">
            <a:avLst/>
          </a:prstGeom>
          <a:solidFill>
            <a:srgbClr val="19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8FAFC"/>
                </a:solidFill>
                <a:latin typeface="Segoe UI"/>
              </a:defRPr>
            </a:pPr>
            <a:r>
              <a:t>THANK YOU!  |  QUESTIONS &amp; LIVE DEMONSTRATION</a:t>
            </a:r>
          </a:p>
          <a:p>
            <a:pPr algn="ctr">
              <a:defRPr sz="950">
                <a:solidFill>
                  <a:srgbClr val="8B5CF6"/>
                </a:solidFill>
                <a:latin typeface="Segoe UI"/>
              </a:defRPr>
            </a:pPr>
            <a:r>
              <a:t>StreamSphere DBMS Mini-Project is ready for live SQL inspection, trigger tests, and viva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